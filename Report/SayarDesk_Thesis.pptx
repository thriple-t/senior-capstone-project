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4" r:id="rId9"/>
    <p:sldId id="265" r:id="rId1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73412" autoAdjust="0"/>
  </p:normalViewPr>
  <p:slideViewPr>
    <p:cSldViewPr snapToGrid="0" snapToObjects="1">
      <p:cViewPr varScale="1">
        <p:scale>
          <a:sx n="101" d="100"/>
          <a:sy n="101" d="100"/>
        </p:scale>
        <p:origin x="922"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386585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evening, everyone. I'll be presenting my newly revised title and project: </a:t>
            </a:r>
            <a:r>
              <a:rPr lang="en-US" dirty="0" err="1"/>
              <a:t>SayarDesk</a:t>
            </a:r>
            <a:r>
              <a:rPr lang="en-US" dirty="0"/>
              <a:t> IELTS Intelligence — a web platform I built (again) to help independent English language teachers in Myanmar manage the writing assessment workload without removing their professional judgment from the process. Last semester, I gave a poor presentation with poor delivery (and I also got you guys’ feedback from my project proposal), so tend to make up better for this one. Instead of being an LMS system which I originally came up with, I have selected a niche approach that will tackle a specific problem which greatly saves me a lot of time to build this"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start with the problem this platform is responding to which you are already familiar with, same issue different but a niche solution. </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this brand new </a:t>
            </a:r>
            <a:r>
              <a:rPr lang="en-US" dirty="0" err="1"/>
              <a:t>SayarDesk</a:t>
            </a:r>
            <a:r>
              <a:rPr lang="en-US" dirty="0"/>
              <a:t> it addresses this through a four-stage workflow. The teacher submits an essay — either as a PDF, DOCX, or pasted text — along with the writing prompt. It feeds the semantic similarity component that evaluates Task Achievement. The backend then runs a three-stage scoring engine, which I'll detail shortly. Every score comes with a SHAP-derived explanation so the teacher understands </a:t>
            </a:r>
            <a:r>
              <a:rPr lang="en-US" i="1" dirty="0"/>
              <a:t>why</a:t>
            </a:r>
            <a:r>
              <a:rPr lang="en-US" dirty="0"/>
              <a:t> the model scored as it did by looking at which specific feature push the model to score in that way . And the teacher always has the final word — they can accept, adjust, or override any criterion before the score enters the official record."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 was trained on 585 essays from two sources. Three hundred were scraped from Writing9, a publicly accessible IELTS webpage, covering all three task types. The challenge with authentic student data is that it clusters around intermediate proficiency — bands 5.5 to 7.0 are well represented, but very high and very low bands are scarce. To address this, I generated 285 synthetic essays using Google Gemini, specifically targeting the underrepresented extremes. This gives the model enough examples of genuinely weak and genuinely strong writing to learn their distinctive features, rather than defaulting to near-mean predictions at the tails."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 went through three distinct iterations, and I want to be honest about what went wrong as well as what worked. The first iteration used </a:t>
            </a:r>
            <a:r>
              <a:rPr lang="en-US" dirty="0" err="1"/>
              <a:t>LwXGBoost</a:t>
            </a:r>
            <a:r>
              <a:rPr lang="en-US" dirty="0"/>
              <a:t> with handcrafted linguistic features only using as reference from one the academic source that I found. Task Achievement and Coherence reached R² around 0.60, but Grammar scored just 0.29 — handcrafted features can't capture the semantic depth needed for that criterion. The second iteration replaced everything with a </a:t>
            </a:r>
            <a:r>
              <a:rPr lang="en-US" dirty="0" err="1"/>
              <a:t>PyTorch</a:t>
            </a:r>
            <a:r>
              <a:rPr lang="en-US" dirty="0"/>
              <a:t> BERT multi-task neural network. Results were worse across every single criterion — negative R² values, meaning the model was performing worse than simply predicting the mean. After digging through deeply, I found out that the root cause was the ensemble stacking leakage: the 110M-parameter BERT model had </a:t>
            </a:r>
            <a:r>
              <a:rPr lang="en-US" dirty="0" err="1"/>
              <a:t>memorised</a:t>
            </a:r>
            <a:r>
              <a:rPr lang="en-US" dirty="0"/>
              <a:t> the training data, so features extracted from it were essentially cheat codes for </a:t>
            </a:r>
            <a:r>
              <a:rPr lang="en-US" dirty="0" err="1"/>
              <a:t>XGBoost</a:t>
            </a:r>
            <a:r>
              <a:rPr lang="en-US" dirty="0"/>
              <a:t> on training data, but garbage at test time. The third iteration although still hasn’t corrected the leakage is showing positive sign on all the assessment, probably Overfitting but there is more in-depth analysis to be dealt with and I also added an LLM adjudicator as a third-party evaluator because, why not???. I personally thought it was a cool addition to add"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current ensemble fuses three signals through criterion-specific weights. For Task Achievement and Coherence — where semantic understanding matters most — the LLM carries more weight. For Lexical Resource and Grammatical Range — where explicit linguistic features like Type-Token Ratio and syntactic dependency counts are more diagnostic — the hybrid model leads. The results are solid: R² between 0.830 and 0.908 across all four criteria, with 83 to 90.7 percent of predictions landing within half a band of the human score. </a:t>
            </a:r>
            <a:br>
              <a:rPr lang="en-US" dirty="0"/>
            </a:br>
            <a:endParaRPr lang="en-US" dirty="0"/>
          </a:p>
          <a:p>
            <a:r>
              <a:rPr lang="en-US" dirty="0"/>
              <a:t>If you think the results are too good to be true, you are right, there is more to uncover and high chances of being overfitting, but I will come back to that part later.</a:t>
            </a:r>
          </a:p>
          <a:p>
            <a:br>
              <a:rPr lang="en-US" dirty="0"/>
            </a:br>
            <a:r>
              <a:rPr lang="en-US" dirty="0"/>
              <a:t>If the LLM API is unavailable somehow due to failure with the API key or token, instead of having the entire system to crash, it will fall back gracefully to 100% hybrid scores."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SayarDesk</a:t>
            </a:r>
            <a:r>
              <a:rPr lang="en-US" dirty="0"/>
              <a:t> is a standard Django 5.2 web application with a machine learning backend. The ML layer combines </a:t>
            </a:r>
            <a:r>
              <a:rPr lang="en-US" dirty="0" err="1"/>
              <a:t>PyTorch</a:t>
            </a:r>
            <a:r>
              <a:rPr lang="en-US" dirty="0"/>
              <a:t> for the BERT model and </a:t>
            </a:r>
            <a:r>
              <a:rPr lang="en-US" dirty="0" err="1"/>
              <a:t>XGBoost</a:t>
            </a:r>
            <a:r>
              <a:rPr lang="en-US" dirty="0"/>
              <a:t> for the hybrid regressor, with </a:t>
            </a:r>
            <a:r>
              <a:rPr lang="en-US" dirty="0" err="1"/>
              <a:t>SentenceTransformers</a:t>
            </a:r>
            <a:r>
              <a:rPr lang="en-US" dirty="0"/>
              <a:t> handling the semantic embeddings. The LLM adjudicator calls Qwen3-VL-8B via </a:t>
            </a:r>
            <a:r>
              <a:rPr lang="en-US" dirty="0" err="1"/>
              <a:t>HuggingFace's</a:t>
            </a:r>
            <a:r>
              <a:rPr lang="en-US" dirty="0"/>
              <a:t> serverless inference API and returns structured output validated through a </a:t>
            </a:r>
            <a:r>
              <a:rPr lang="en-US" dirty="0" err="1"/>
              <a:t>Pydantic</a:t>
            </a:r>
            <a:r>
              <a:rPr lang="en-US" dirty="0"/>
              <a:t> model. The platform is deployed on either Azure App Services or </a:t>
            </a:r>
            <a:r>
              <a:rPr lang="en-US" dirty="0" err="1"/>
              <a:t>HuggingFace</a:t>
            </a:r>
            <a:r>
              <a:rPr lang="en-US" dirty="0"/>
              <a:t> (which is to be decided soon), and the frontend is built for low-bandwidth conditions — Chart.js for interactive charts (which was helped built by Gemini since I don’t know JavaScript yet…), and client-side draft saving to prevent data loss during connectivity interruptions.“</a:t>
            </a:r>
          </a:p>
          <a:p>
            <a:endParaRPr lang="en-US" dirty="0"/>
          </a:p>
          <a:p>
            <a:r>
              <a:rPr lang="en-US" dirty="0"/>
              <a:t>NOW I WILL SHOW YOU THE APP AS A DEMONSTRATION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be clear about what this platform is not yet. The corpus of 585 essays is small for a 110M-parameter model, and the band distribution still skews toward the middle despite synthetic augmentation. Not only that, there is a good chance there is a data leakage problem here. Now the “data” is now an issue here, which needs to be deeply search and run analysis thoroughly before next demonstration.</a:t>
            </a:r>
            <a:br>
              <a:rPr lang="en-US" dirty="0"/>
            </a:br>
            <a:br>
              <a:rPr lang="en-US" dirty="0"/>
            </a:br>
            <a:r>
              <a:rPr lang="en-US" dirty="0"/>
              <a:t> And the current development build doesn't enforce Django authentication, which must be resolved before any public deployment. On the future directions side, the most impactful improvements would be integrating inline error annotation directly in the essay text, expanding the training corpus with established datasets like ASAP-AES, and running a proper longitudinal study to answer the question this thesis can't: do teachers who use </a:t>
            </a:r>
            <a:r>
              <a:rPr lang="en-US" dirty="0" err="1"/>
              <a:t>SayarDesk</a:t>
            </a:r>
            <a:r>
              <a:rPr lang="en-US" dirty="0"/>
              <a:t> actually feel less burdened, and do their students perform better on official exams?"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a:t>
            </a:r>
            <a:r>
              <a:rPr lang="en-US" dirty="0" err="1"/>
              <a:t>SayarDesk</a:t>
            </a:r>
            <a:r>
              <a:rPr lang="en-US" dirty="0"/>
              <a:t> demonstrates that a hybrid machine learning architecture can provide IELTS writing predictions with meaningful accuracy and, critically, with transparent explanations that teachers can interrogate and correct. But the more important argument is about design philosophy. Educational AI doesn't need to pursue complete automation to be useful. A system that handles the mechanical parts of a workflow — first-pass scoring, error identification, score recording — and returns the teacher's time to the things that require human judgment is a more defensible contribution than one that tries to replace the teacher entirely. That's what this platform is trying to deliver. Thank you."</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2E"/>
        </a:solidFill>
        <a:effectLst/>
      </p:bgPr>
    </p:bg>
    <p:spTree>
      <p:nvGrpSpPr>
        <p:cNvPr id="1" name=""/>
        <p:cNvGrpSpPr/>
        <p:nvPr/>
      </p:nvGrpSpPr>
      <p:grpSpPr>
        <a:xfrm>
          <a:off x="0" y="0"/>
          <a:ext cx="0" cy="0"/>
          <a:chOff x="0" y="0"/>
          <a:chExt cx="0" cy="0"/>
        </a:xfrm>
      </p:grpSpPr>
      <p:sp>
        <p:nvSpPr>
          <p:cNvPr id="2" name="Shape 0"/>
          <p:cNvSpPr/>
          <p:nvPr/>
        </p:nvSpPr>
        <p:spPr>
          <a:xfrm>
            <a:off x="502920" y="1371600"/>
            <a:ext cx="54864" cy="2286000"/>
          </a:xfrm>
          <a:prstGeom prst="rect">
            <a:avLst/>
          </a:prstGeom>
          <a:solidFill>
            <a:srgbClr val="4A90D9"/>
          </a:solidFill>
          <a:ln w="12700">
            <a:solidFill>
              <a:srgbClr val="4A90D9"/>
            </a:solidFill>
            <a:prstDash val="solid"/>
          </a:ln>
        </p:spPr>
      </p:sp>
      <p:sp>
        <p:nvSpPr>
          <p:cNvPr id="3" name="Text 1"/>
          <p:cNvSpPr/>
          <p:nvPr/>
        </p:nvSpPr>
        <p:spPr>
          <a:xfrm>
            <a:off x="685800" y="1325880"/>
            <a:ext cx="7772400" cy="777240"/>
          </a:xfrm>
          <a:prstGeom prst="rect">
            <a:avLst/>
          </a:prstGeom>
          <a:noFill/>
          <a:ln/>
        </p:spPr>
        <p:txBody>
          <a:bodyPr wrap="square" lIns="0" tIns="0" rIns="0" bIns="0" rtlCol="0" anchor="ctr"/>
          <a:lstStyle/>
          <a:p>
            <a:pPr marL="0" indent="0">
              <a:buNone/>
            </a:pPr>
            <a:r>
              <a:rPr lang="en-US" sz="4800" b="1" dirty="0">
                <a:solidFill>
                  <a:srgbClr val="FFFFFF"/>
                </a:solidFill>
                <a:latin typeface="Georgia" pitchFamily="34" charset="0"/>
                <a:ea typeface="Georgia" pitchFamily="34" charset="-122"/>
                <a:cs typeface="Georgia" pitchFamily="34" charset="-120"/>
              </a:rPr>
              <a:t>SayarDesk</a:t>
            </a:r>
            <a:endParaRPr lang="en-US" sz="4800" dirty="0"/>
          </a:p>
        </p:txBody>
      </p:sp>
      <p:sp>
        <p:nvSpPr>
          <p:cNvPr id="4" name="Text 2"/>
          <p:cNvSpPr/>
          <p:nvPr/>
        </p:nvSpPr>
        <p:spPr>
          <a:xfrm>
            <a:off x="685800" y="2057400"/>
            <a:ext cx="7772400" cy="594360"/>
          </a:xfrm>
          <a:prstGeom prst="rect">
            <a:avLst/>
          </a:prstGeom>
          <a:noFill/>
          <a:ln/>
        </p:spPr>
        <p:txBody>
          <a:bodyPr wrap="square" lIns="0" tIns="0" rIns="0" bIns="0" rtlCol="0" anchor="ctr"/>
          <a:lstStyle/>
          <a:p>
            <a:pPr marL="0" indent="0">
              <a:buNone/>
            </a:pPr>
            <a:r>
              <a:rPr lang="en-US" sz="3000" dirty="0">
                <a:solidFill>
                  <a:srgbClr val="4A90D9"/>
                </a:solidFill>
                <a:latin typeface="Georgia" pitchFamily="34" charset="0"/>
                <a:ea typeface="Georgia" pitchFamily="34" charset="-122"/>
                <a:cs typeface="Georgia" pitchFamily="34" charset="-120"/>
              </a:rPr>
              <a:t>IELTS Intelligence</a:t>
            </a:r>
            <a:endParaRPr lang="en-US" sz="3000" dirty="0"/>
          </a:p>
        </p:txBody>
      </p:sp>
      <p:sp>
        <p:nvSpPr>
          <p:cNvPr id="5" name="Text 3"/>
          <p:cNvSpPr/>
          <p:nvPr/>
        </p:nvSpPr>
        <p:spPr>
          <a:xfrm>
            <a:off x="685800" y="2834640"/>
            <a:ext cx="7772400" cy="822960"/>
          </a:xfrm>
          <a:prstGeom prst="rect">
            <a:avLst/>
          </a:prstGeom>
          <a:noFill/>
          <a:ln/>
        </p:spPr>
        <p:txBody>
          <a:bodyPr wrap="square" lIns="0" tIns="0" rIns="0" bIns="0" rtlCol="0" anchor="ctr"/>
          <a:lstStyle/>
          <a:p>
            <a:pPr marL="0" indent="0">
              <a:buNone/>
            </a:pPr>
            <a:r>
              <a:rPr lang="en-US" sz="1300" dirty="0">
                <a:solidFill>
                  <a:srgbClr val="8A9BB0"/>
                </a:solidFill>
                <a:latin typeface="Calibri" pitchFamily="34" charset="0"/>
                <a:ea typeface="Calibri" pitchFamily="34" charset="-122"/>
                <a:cs typeface="Calibri" pitchFamily="34" charset="-120"/>
              </a:rPr>
              <a:t>An AI-Powered Writing Assessment Platform for</a:t>
            </a:r>
            <a:endParaRPr lang="en-US" sz="1300" dirty="0"/>
          </a:p>
          <a:p>
            <a:pPr marL="0" indent="0">
              <a:buNone/>
            </a:pPr>
            <a:r>
              <a:rPr lang="en-US" sz="1300" dirty="0">
                <a:solidFill>
                  <a:srgbClr val="8A9BB0"/>
                </a:solidFill>
                <a:latin typeface="Calibri" pitchFamily="34" charset="0"/>
                <a:ea typeface="Calibri" pitchFamily="34" charset="-122"/>
                <a:cs typeface="Calibri" pitchFamily="34" charset="-120"/>
              </a:rPr>
              <a:t>Independent English Language Teachers in Myanmar</a:t>
            </a:r>
            <a:endParaRPr lang="en-US" sz="1300" dirty="0"/>
          </a:p>
        </p:txBody>
      </p:sp>
      <p:sp>
        <p:nvSpPr>
          <p:cNvPr id="6" name="Text 4"/>
          <p:cNvSpPr/>
          <p:nvPr/>
        </p:nvSpPr>
        <p:spPr>
          <a:xfrm>
            <a:off x="685800" y="4206240"/>
            <a:ext cx="8229600" cy="320040"/>
          </a:xfrm>
          <a:prstGeom prst="rect">
            <a:avLst/>
          </a:prstGeom>
          <a:noFill/>
          <a:ln/>
        </p:spPr>
        <p:txBody>
          <a:bodyPr wrap="square" lIns="0" tIns="0" rIns="0" bIns="0" rtlCol="0" anchor="ctr"/>
          <a:lstStyle/>
          <a:p>
            <a:pPr marL="0" indent="0">
              <a:buNone/>
            </a:pPr>
            <a:r>
              <a:rPr lang="en-US" sz="1100" dirty="0">
                <a:solidFill>
                  <a:srgbClr val="8A9BB0"/>
                </a:solidFill>
                <a:latin typeface="Calibri" pitchFamily="34" charset="0"/>
                <a:ea typeface="Calibri" pitchFamily="34" charset="-122"/>
                <a:cs typeface="Calibri" pitchFamily="34" charset="-120"/>
              </a:rPr>
              <a:t>Thant Thaw Tun  ·  Parami University  ·  March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A1A2E"/>
          </a:solidFill>
          <a:ln w="12700">
            <a:solidFill>
              <a:srgbClr val="1A1A2E"/>
            </a:solidFill>
            <a:prstDash val="solid"/>
          </a:ln>
        </p:spPr>
      </p:sp>
      <p:sp>
        <p:nvSpPr>
          <p:cNvPr id="3" name="Text 1"/>
          <p:cNvSpPr/>
          <p:nvPr/>
        </p:nvSpPr>
        <p:spPr>
          <a:xfrm>
            <a:off x="457200" y="0"/>
            <a:ext cx="8229600" cy="640080"/>
          </a:xfrm>
          <a:prstGeom prst="rect">
            <a:avLst/>
          </a:prstGeom>
          <a:noFill/>
          <a:ln/>
        </p:spPr>
        <p:txBody>
          <a:bodyPr wrap="square" lIns="0" tIns="0" rIns="0" bIns="0" rtlCol="0" anchor="ctr"/>
          <a:lstStyle/>
          <a:p>
            <a:pPr marL="0" indent="0">
              <a:buNone/>
            </a:pPr>
            <a:r>
              <a:rPr lang="en-US" sz="2000" b="1" dirty="0">
                <a:solidFill>
                  <a:srgbClr val="FFFFFF"/>
                </a:solidFill>
                <a:latin typeface="Georgia" pitchFamily="34" charset="0"/>
                <a:ea typeface="Georgia" pitchFamily="34" charset="-122"/>
                <a:cs typeface="Georgia" pitchFamily="34" charset="-120"/>
              </a:rPr>
              <a:t>The Problem</a:t>
            </a:r>
            <a:endParaRPr lang="en-US" sz="2000" dirty="0"/>
          </a:p>
        </p:txBody>
      </p:sp>
      <p:sp>
        <p:nvSpPr>
          <p:cNvPr id="4" name="Shape 2"/>
          <p:cNvSpPr/>
          <p:nvPr/>
        </p:nvSpPr>
        <p:spPr>
          <a:xfrm>
            <a:off x="320040" y="822960"/>
            <a:ext cx="2697480" cy="3566160"/>
          </a:xfrm>
          <a:prstGeom prst="rect">
            <a:avLst/>
          </a:prstGeom>
          <a:solidFill>
            <a:srgbClr val="F7F7F7"/>
          </a:solidFill>
          <a:ln w="12700">
            <a:solidFill>
              <a:srgbClr val="D8DEE4"/>
            </a:solidFill>
            <a:prstDash val="solid"/>
          </a:ln>
        </p:spPr>
      </p:sp>
      <p:sp>
        <p:nvSpPr>
          <p:cNvPr id="5" name="Shape 3"/>
          <p:cNvSpPr/>
          <p:nvPr/>
        </p:nvSpPr>
        <p:spPr>
          <a:xfrm>
            <a:off x="320040" y="822960"/>
            <a:ext cx="2697480" cy="73152"/>
          </a:xfrm>
          <a:prstGeom prst="rect">
            <a:avLst/>
          </a:prstGeom>
          <a:solidFill>
            <a:srgbClr val="4A90D9"/>
          </a:solidFill>
          <a:ln w="12700">
            <a:solidFill>
              <a:srgbClr val="4A90D9"/>
            </a:solidFill>
            <a:prstDash val="solid"/>
          </a:ln>
        </p:spPr>
      </p:sp>
      <p:sp>
        <p:nvSpPr>
          <p:cNvPr id="6" name="Text 4"/>
          <p:cNvSpPr/>
          <p:nvPr/>
        </p:nvSpPr>
        <p:spPr>
          <a:xfrm>
            <a:off x="457200" y="960120"/>
            <a:ext cx="2423160" cy="411480"/>
          </a:xfrm>
          <a:prstGeom prst="rect">
            <a:avLst/>
          </a:prstGeom>
          <a:noFill/>
          <a:ln/>
        </p:spPr>
        <p:txBody>
          <a:bodyPr wrap="square" lIns="0" tIns="0" rIns="0" bIns="0" rtlCol="0" anchor="ctr"/>
          <a:lstStyle/>
          <a:p>
            <a:pPr marL="0" indent="0">
              <a:buNone/>
            </a:pPr>
            <a:r>
              <a:rPr lang="en-US" sz="1300" b="1" dirty="0">
                <a:solidFill>
                  <a:srgbClr val="1A1A2E"/>
                </a:solidFill>
                <a:latin typeface="Georgia" pitchFamily="34" charset="0"/>
                <a:ea typeface="Georgia" pitchFamily="34" charset="-122"/>
                <a:cs typeface="Georgia" pitchFamily="34" charset="-120"/>
              </a:rPr>
              <a:t>Time burden</a:t>
            </a:r>
            <a:endParaRPr lang="en-US" sz="1300" dirty="0"/>
          </a:p>
        </p:txBody>
      </p:sp>
      <p:sp>
        <p:nvSpPr>
          <p:cNvPr id="7" name="Text 5"/>
          <p:cNvSpPr/>
          <p:nvPr/>
        </p:nvSpPr>
        <p:spPr>
          <a:xfrm>
            <a:off x="457200" y="1417320"/>
            <a:ext cx="2423160" cy="2560320"/>
          </a:xfrm>
          <a:prstGeom prst="rect">
            <a:avLst/>
          </a:prstGeom>
          <a:noFill/>
          <a:ln/>
        </p:spPr>
        <p:txBody>
          <a:bodyPr wrap="square" lIns="0" tIns="0" rIns="0" bIns="0" rtlCol="0" anchor="ctr"/>
          <a:lstStyle/>
          <a:p>
            <a:pPr marL="0" indent="0">
              <a:buNone/>
            </a:pPr>
            <a:r>
              <a:rPr lang="en-US" sz="1200" dirty="0">
                <a:solidFill>
                  <a:srgbClr val="36454F"/>
                </a:solidFill>
                <a:latin typeface="Calibri" pitchFamily="34" charset="0"/>
                <a:ea typeface="Calibri" pitchFamily="34" charset="-122"/>
                <a:cs typeface="Calibri" pitchFamily="34" charset="-120"/>
              </a:rPr>
              <a:t>Each IELTS essay requires careful reading across 4 criteria. 30 students × 2 weeks = unsustainable marking load.</a:t>
            </a:r>
            <a:endParaRPr lang="en-US" sz="1200" dirty="0"/>
          </a:p>
        </p:txBody>
      </p:sp>
      <p:sp>
        <p:nvSpPr>
          <p:cNvPr id="8" name="Shape 6"/>
          <p:cNvSpPr/>
          <p:nvPr/>
        </p:nvSpPr>
        <p:spPr>
          <a:xfrm>
            <a:off x="3172968" y="822960"/>
            <a:ext cx="2697480" cy="3566160"/>
          </a:xfrm>
          <a:prstGeom prst="rect">
            <a:avLst/>
          </a:prstGeom>
          <a:solidFill>
            <a:srgbClr val="F7F7F7"/>
          </a:solidFill>
          <a:ln w="12700">
            <a:solidFill>
              <a:srgbClr val="D8DEE4"/>
            </a:solidFill>
            <a:prstDash val="solid"/>
          </a:ln>
        </p:spPr>
      </p:sp>
      <p:sp>
        <p:nvSpPr>
          <p:cNvPr id="9" name="Shape 7"/>
          <p:cNvSpPr/>
          <p:nvPr/>
        </p:nvSpPr>
        <p:spPr>
          <a:xfrm>
            <a:off x="3172968" y="822960"/>
            <a:ext cx="2697480" cy="73152"/>
          </a:xfrm>
          <a:prstGeom prst="rect">
            <a:avLst/>
          </a:prstGeom>
          <a:solidFill>
            <a:srgbClr val="4A90D9"/>
          </a:solidFill>
          <a:ln w="12700">
            <a:solidFill>
              <a:srgbClr val="4A90D9"/>
            </a:solidFill>
            <a:prstDash val="solid"/>
          </a:ln>
        </p:spPr>
      </p:sp>
      <p:sp>
        <p:nvSpPr>
          <p:cNvPr id="10" name="Text 8"/>
          <p:cNvSpPr/>
          <p:nvPr/>
        </p:nvSpPr>
        <p:spPr>
          <a:xfrm>
            <a:off x="3310128" y="960120"/>
            <a:ext cx="2423160" cy="411480"/>
          </a:xfrm>
          <a:prstGeom prst="rect">
            <a:avLst/>
          </a:prstGeom>
          <a:noFill/>
          <a:ln/>
        </p:spPr>
        <p:txBody>
          <a:bodyPr wrap="square" lIns="0" tIns="0" rIns="0" bIns="0" rtlCol="0" anchor="ctr"/>
          <a:lstStyle/>
          <a:p>
            <a:pPr marL="0" indent="0">
              <a:buNone/>
            </a:pPr>
            <a:r>
              <a:rPr lang="en-US" sz="1300" b="1" dirty="0">
                <a:solidFill>
                  <a:srgbClr val="1A1A2E"/>
                </a:solidFill>
                <a:latin typeface="Georgia" pitchFamily="34" charset="0"/>
                <a:ea typeface="Georgia" pitchFamily="34" charset="-122"/>
                <a:cs typeface="Georgia" pitchFamily="34" charset="-120"/>
              </a:rPr>
              <a:t>No institutional support</a:t>
            </a:r>
            <a:endParaRPr lang="en-US" sz="1300" dirty="0"/>
          </a:p>
        </p:txBody>
      </p:sp>
      <p:sp>
        <p:nvSpPr>
          <p:cNvPr id="11" name="Text 9"/>
          <p:cNvSpPr/>
          <p:nvPr/>
        </p:nvSpPr>
        <p:spPr>
          <a:xfrm>
            <a:off x="3310128" y="1417320"/>
            <a:ext cx="2423160" cy="2560320"/>
          </a:xfrm>
          <a:prstGeom prst="rect">
            <a:avLst/>
          </a:prstGeom>
          <a:noFill/>
          <a:ln/>
        </p:spPr>
        <p:txBody>
          <a:bodyPr wrap="square" lIns="0" tIns="0" rIns="0" bIns="0" rtlCol="0" anchor="ctr"/>
          <a:lstStyle/>
          <a:p>
            <a:pPr marL="0" indent="0">
              <a:buNone/>
            </a:pPr>
            <a:r>
              <a:rPr lang="en-US" sz="1200" dirty="0">
                <a:solidFill>
                  <a:srgbClr val="36454F"/>
                </a:solidFill>
                <a:latin typeface="Calibri" pitchFamily="34" charset="0"/>
                <a:ea typeface="Calibri" pitchFamily="34" charset="-122"/>
                <a:cs typeface="Calibri" pitchFamily="34" charset="-120"/>
              </a:rPr>
              <a:t>Independent teachers in Myanmar lack shared marking schemes, admin staff, or reliable digital infrastructure.</a:t>
            </a:r>
            <a:endParaRPr lang="en-US" sz="1200" dirty="0"/>
          </a:p>
        </p:txBody>
      </p:sp>
      <p:sp>
        <p:nvSpPr>
          <p:cNvPr id="12" name="Shape 10"/>
          <p:cNvSpPr/>
          <p:nvPr/>
        </p:nvSpPr>
        <p:spPr>
          <a:xfrm>
            <a:off x="6025896" y="822960"/>
            <a:ext cx="2697480" cy="3566160"/>
          </a:xfrm>
          <a:prstGeom prst="rect">
            <a:avLst/>
          </a:prstGeom>
          <a:solidFill>
            <a:srgbClr val="F7F7F7"/>
          </a:solidFill>
          <a:ln w="12700">
            <a:solidFill>
              <a:srgbClr val="D8DEE4"/>
            </a:solidFill>
            <a:prstDash val="solid"/>
          </a:ln>
        </p:spPr>
      </p:sp>
      <p:sp>
        <p:nvSpPr>
          <p:cNvPr id="13" name="Shape 11"/>
          <p:cNvSpPr/>
          <p:nvPr/>
        </p:nvSpPr>
        <p:spPr>
          <a:xfrm>
            <a:off x="6025896" y="822960"/>
            <a:ext cx="2697480" cy="73152"/>
          </a:xfrm>
          <a:prstGeom prst="rect">
            <a:avLst/>
          </a:prstGeom>
          <a:solidFill>
            <a:srgbClr val="4A90D9"/>
          </a:solidFill>
          <a:ln w="12700">
            <a:solidFill>
              <a:srgbClr val="4A90D9"/>
            </a:solidFill>
            <a:prstDash val="solid"/>
          </a:ln>
        </p:spPr>
      </p:sp>
      <p:sp>
        <p:nvSpPr>
          <p:cNvPr id="14" name="Text 12"/>
          <p:cNvSpPr/>
          <p:nvPr/>
        </p:nvSpPr>
        <p:spPr>
          <a:xfrm>
            <a:off x="6163056" y="960120"/>
            <a:ext cx="2423160" cy="411480"/>
          </a:xfrm>
          <a:prstGeom prst="rect">
            <a:avLst/>
          </a:prstGeom>
          <a:noFill/>
          <a:ln/>
        </p:spPr>
        <p:txBody>
          <a:bodyPr wrap="square" lIns="0" tIns="0" rIns="0" bIns="0" rtlCol="0" anchor="ctr"/>
          <a:lstStyle/>
          <a:p>
            <a:pPr marL="0" indent="0">
              <a:buNone/>
            </a:pPr>
            <a:r>
              <a:rPr lang="en-US" sz="1300" b="1" dirty="0">
                <a:solidFill>
                  <a:srgbClr val="1A1A2E"/>
                </a:solidFill>
                <a:latin typeface="Georgia" pitchFamily="34" charset="0"/>
                <a:ea typeface="Georgia" pitchFamily="34" charset="-122"/>
                <a:cs typeface="Georgia" pitchFamily="34" charset="-120"/>
              </a:rPr>
              <a:t>Connectivity constraints</a:t>
            </a:r>
            <a:endParaRPr lang="en-US" sz="1300" dirty="0"/>
          </a:p>
        </p:txBody>
      </p:sp>
      <p:sp>
        <p:nvSpPr>
          <p:cNvPr id="15" name="Text 13"/>
          <p:cNvSpPr/>
          <p:nvPr/>
        </p:nvSpPr>
        <p:spPr>
          <a:xfrm>
            <a:off x="6163056" y="1417320"/>
            <a:ext cx="2423160" cy="2560320"/>
          </a:xfrm>
          <a:prstGeom prst="rect">
            <a:avLst/>
          </a:prstGeom>
          <a:noFill/>
          <a:ln/>
        </p:spPr>
        <p:txBody>
          <a:bodyPr wrap="square" lIns="0" tIns="0" rIns="0" bIns="0" rtlCol="0" anchor="ctr"/>
          <a:lstStyle/>
          <a:p>
            <a:pPr marL="0" indent="0">
              <a:buNone/>
            </a:pPr>
            <a:r>
              <a:rPr lang="en-US" sz="1200" dirty="0">
                <a:solidFill>
                  <a:srgbClr val="36454F"/>
                </a:solidFill>
                <a:latin typeface="Calibri" pitchFamily="34" charset="0"/>
                <a:ea typeface="Calibri" pitchFamily="34" charset="-122"/>
                <a:cs typeface="Calibri" pitchFamily="34" charset="-120"/>
              </a:rPr>
              <a:t>Frequent power cuts and mobile-only internet make timely feedback difficult — students may not get scores before weekend practice.</a:t>
            </a:r>
            <a:endParaRPr lang="en-US" sz="1200" dirty="0"/>
          </a:p>
        </p:txBody>
      </p:sp>
      <p:sp>
        <p:nvSpPr>
          <p:cNvPr id="16" name="Text 14"/>
          <p:cNvSpPr/>
          <p:nvPr/>
        </p:nvSpPr>
        <p:spPr>
          <a:xfrm>
            <a:off x="320040" y="4617720"/>
            <a:ext cx="8503920" cy="411480"/>
          </a:xfrm>
          <a:prstGeom prst="rect">
            <a:avLst/>
          </a:prstGeom>
          <a:noFill/>
          <a:ln/>
        </p:spPr>
        <p:txBody>
          <a:bodyPr wrap="square" lIns="0" tIns="0" rIns="0" bIns="0" rtlCol="0" anchor="ctr"/>
          <a:lstStyle/>
          <a:p>
            <a:pPr marL="0" indent="0">
              <a:buNone/>
            </a:pPr>
            <a:r>
              <a:rPr lang="en-US" sz="1100" i="1" dirty="0">
                <a:solidFill>
                  <a:srgbClr val="8A9BB0"/>
                </a:solidFill>
                <a:latin typeface="Calibri" pitchFamily="34" charset="0"/>
                <a:ea typeface="Calibri" pitchFamily="34" charset="-122"/>
                <a:cs typeface="Calibri" pitchFamily="34" charset="-120"/>
              </a:rPr>
              <a:t>SayarDesk was built to take the mechanical parts of assessment off teachers' plates — not to replace their judgment.</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A1A2E"/>
          </a:solidFill>
          <a:ln w="12700">
            <a:solidFill>
              <a:srgbClr val="1A1A2E"/>
            </a:solidFill>
            <a:prstDash val="solid"/>
          </a:ln>
        </p:spPr>
      </p:sp>
      <p:sp>
        <p:nvSpPr>
          <p:cNvPr id="3" name="Text 1"/>
          <p:cNvSpPr/>
          <p:nvPr/>
        </p:nvSpPr>
        <p:spPr>
          <a:xfrm>
            <a:off x="457200" y="0"/>
            <a:ext cx="8229600" cy="640080"/>
          </a:xfrm>
          <a:prstGeom prst="rect">
            <a:avLst/>
          </a:prstGeom>
          <a:noFill/>
          <a:ln/>
        </p:spPr>
        <p:txBody>
          <a:bodyPr wrap="square" lIns="0" tIns="0" rIns="0" bIns="0" rtlCol="0" anchor="ctr"/>
          <a:lstStyle/>
          <a:p>
            <a:pPr marL="0" indent="0">
              <a:buNone/>
            </a:pPr>
            <a:r>
              <a:rPr lang="en-US" sz="2000" b="1" dirty="0">
                <a:solidFill>
                  <a:srgbClr val="FFFFFF"/>
                </a:solidFill>
                <a:latin typeface="Georgia" pitchFamily="34" charset="0"/>
                <a:ea typeface="Georgia" pitchFamily="34" charset="-122"/>
                <a:cs typeface="Georgia" pitchFamily="34" charset="-120"/>
              </a:rPr>
              <a:t>System Overview</a:t>
            </a:r>
            <a:endParaRPr lang="en-US" sz="2000" dirty="0"/>
          </a:p>
        </p:txBody>
      </p:sp>
      <p:sp>
        <p:nvSpPr>
          <p:cNvPr id="4" name="Shape 2"/>
          <p:cNvSpPr/>
          <p:nvPr/>
        </p:nvSpPr>
        <p:spPr>
          <a:xfrm>
            <a:off x="274320" y="822960"/>
            <a:ext cx="1965960" cy="2286000"/>
          </a:xfrm>
          <a:prstGeom prst="rect">
            <a:avLst/>
          </a:prstGeom>
          <a:solidFill>
            <a:srgbClr val="F7F7F7"/>
          </a:solidFill>
          <a:ln w="12700">
            <a:solidFill>
              <a:srgbClr val="D8DEE4"/>
            </a:solidFill>
            <a:prstDash val="solid"/>
          </a:ln>
        </p:spPr>
      </p:sp>
      <p:sp>
        <p:nvSpPr>
          <p:cNvPr id="5" name="Text 3"/>
          <p:cNvSpPr/>
          <p:nvPr/>
        </p:nvSpPr>
        <p:spPr>
          <a:xfrm>
            <a:off x="365760" y="868680"/>
            <a:ext cx="1783080" cy="411480"/>
          </a:xfrm>
          <a:prstGeom prst="rect">
            <a:avLst/>
          </a:prstGeom>
          <a:noFill/>
          <a:ln/>
        </p:spPr>
        <p:txBody>
          <a:bodyPr wrap="square" lIns="0" tIns="0" rIns="0" bIns="0" rtlCol="0" anchor="ctr"/>
          <a:lstStyle/>
          <a:p>
            <a:pPr marL="0" indent="0">
              <a:buNone/>
            </a:pPr>
            <a:r>
              <a:rPr lang="en-US" sz="1100" b="1" dirty="0">
                <a:solidFill>
                  <a:srgbClr val="4A90D9"/>
                </a:solidFill>
                <a:latin typeface="Georgia" pitchFamily="34" charset="0"/>
                <a:ea typeface="Georgia" pitchFamily="34" charset="-122"/>
                <a:cs typeface="Georgia" pitchFamily="34" charset="-120"/>
              </a:rPr>
              <a:t>1  Essay Input</a:t>
            </a:r>
            <a:endParaRPr lang="en-US" sz="1100" dirty="0"/>
          </a:p>
        </p:txBody>
      </p:sp>
      <p:sp>
        <p:nvSpPr>
          <p:cNvPr id="6" name="Text 4"/>
          <p:cNvSpPr/>
          <p:nvPr/>
        </p:nvSpPr>
        <p:spPr>
          <a:xfrm>
            <a:off x="365760" y="1325880"/>
            <a:ext cx="1783080" cy="1691640"/>
          </a:xfrm>
          <a:prstGeom prst="rect">
            <a:avLst/>
          </a:prstGeom>
          <a:noFill/>
          <a:ln/>
        </p:spPr>
        <p:txBody>
          <a:bodyPr wrap="square" lIns="0" tIns="0" rIns="0" bIns="0" rtlCol="0" anchor="ctr"/>
          <a:lstStyle/>
          <a:p>
            <a:pPr marL="0" indent="0">
              <a:buNone/>
            </a:pPr>
            <a:r>
              <a:rPr lang="en-US" sz="1100" dirty="0">
                <a:solidFill>
                  <a:srgbClr val="36454F"/>
                </a:solidFill>
                <a:latin typeface="Calibri" pitchFamily="34" charset="0"/>
                <a:ea typeface="Calibri" pitchFamily="34" charset="-122"/>
                <a:cs typeface="Calibri" pitchFamily="34" charset="-120"/>
              </a:rPr>
              <a:t>Teacher submits essay</a:t>
            </a:r>
            <a:endParaRPr lang="en-US" sz="1100" dirty="0"/>
          </a:p>
          <a:p>
            <a:pPr marL="0" indent="0">
              <a:buNone/>
            </a:pPr>
            <a:r>
              <a:rPr lang="en-US" sz="1100" dirty="0">
                <a:solidFill>
                  <a:srgbClr val="36454F"/>
                </a:solidFill>
                <a:latin typeface="Calibri" pitchFamily="34" charset="0"/>
                <a:ea typeface="Calibri" pitchFamily="34" charset="-122"/>
                <a:cs typeface="Calibri" pitchFamily="34" charset="-120"/>
              </a:rPr>
              <a:t>(PDF, DOCX, or text)</a:t>
            </a:r>
            <a:endParaRPr lang="en-US" sz="1100" dirty="0"/>
          </a:p>
          <a:p>
            <a:pPr marL="0" indent="0">
              <a:buNone/>
            </a:pPr>
            <a:r>
              <a:rPr lang="en-US" sz="1100" dirty="0">
                <a:solidFill>
                  <a:srgbClr val="36454F"/>
                </a:solidFill>
                <a:latin typeface="Calibri" pitchFamily="34" charset="0"/>
                <a:ea typeface="Calibri" pitchFamily="34" charset="-122"/>
                <a:cs typeface="Calibri" pitchFamily="34" charset="-120"/>
              </a:rPr>
              <a:t>plus writing prompt</a:t>
            </a:r>
            <a:endParaRPr lang="en-US" sz="1100" dirty="0"/>
          </a:p>
        </p:txBody>
      </p:sp>
      <p:sp>
        <p:nvSpPr>
          <p:cNvPr id="7" name="Shape 5"/>
          <p:cNvSpPr/>
          <p:nvPr/>
        </p:nvSpPr>
        <p:spPr>
          <a:xfrm>
            <a:off x="2240280" y="1920240"/>
            <a:ext cx="201168" cy="54864"/>
          </a:xfrm>
          <a:prstGeom prst="rect">
            <a:avLst/>
          </a:prstGeom>
          <a:solidFill>
            <a:srgbClr val="8A9BB0"/>
          </a:solidFill>
          <a:ln w="12700">
            <a:solidFill>
              <a:srgbClr val="8A9BB0"/>
            </a:solidFill>
            <a:prstDash val="solid"/>
          </a:ln>
        </p:spPr>
      </p:sp>
      <p:sp>
        <p:nvSpPr>
          <p:cNvPr id="8" name="Shape 6"/>
          <p:cNvSpPr/>
          <p:nvPr/>
        </p:nvSpPr>
        <p:spPr>
          <a:xfrm>
            <a:off x="2441448" y="822960"/>
            <a:ext cx="1965960" cy="2286000"/>
          </a:xfrm>
          <a:prstGeom prst="rect">
            <a:avLst/>
          </a:prstGeom>
          <a:solidFill>
            <a:srgbClr val="F7F7F7"/>
          </a:solidFill>
          <a:ln w="12700">
            <a:solidFill>
              <a:srgbClr val="D8DEE4"/>
            </a:solidFill>
            <a:prstDash val="solid"/>
          </a:ln>
        </p:spPr>
      </p:sp>
      <p:sp>
        <p:nvSpPr>
          <p:cNvPr id="9" name="Text 7"/>
          <p:cNvSpPr/>
          <p:nvPr/>
        </p:nvSpPr>
        <p:spPr>
          <a:xfrm>
            <a:off x="2532888" y="868680"/>
            <a:ext cx="1783080" cy="411480"/>
          </a:xfrm>
          <a:prstGeom prst="rect">
            <a:avLst/>
          </a:prstGeom>
          <a:noFill/>
          <a:ln/>
        </p:spPr>
        <p:txBody>
          <a:bodyPr wrap="square" lIns="0" tIns="0" rIns="0" bIns="0" rtlCol="0" anchor="ctr"/>
          <a:lstStyle/>
          <a:p>
            <a:pPr marL="0" indent="0">
              <a:buNone/>
            </a:pPr>
            <a:r>
              <a:rPr lang="en-US" sz="1100" b="1" dirty="0">
                <a:solidFill>
                  <a:srgbClr val="4A90D9"/>
                </a:solidFill>
                <a:latin typeface="Georgia" pitchFamily="34" charset="0"/>
                <a:ea typeface="Georgia" pitchFamily="34" charset="-122"/>
                <a:cs typeface="Georgia" pitchFamily="34" charset="-120"/>
              </a:rPr>
              <a:t>2  Three-Stage Engine</a:t>
            </a:r>
            <a:endParaRPr lang="en-US" sz="1100" dirty="0"/>
          </a:p>
        </p:txBody>
      </p:sp>
      <p:sp>
        <p:nvSpPr>
          <p:cNvPr id="10" name="Text 8"/>
          <p:cNvSpPr/>
          <p:nvPr/>
        </p:nvSpPr>
        <p:spPr>
          <a:xfrm>
            <a:off x="2532888" y="1325880"/>
            <a:ext cx="1783080" cy="1691640"/>
          </a:xfrm>
          <a:prstGeom prst="rect">
            <a:avLst/>
          </a:prstGeom>
          <a:noFill/>
          <a:ln/>
        </p:spPr>
        <p:txBody>
          <a:bodyPr wrap="square" lIns="0" tIns="0" rIns="0" bIns="0" rtlCol="0" anchor="ctr"/>
          <a:lstStyle/>
          <a:p>
            <a:pPr marL="0" indent="0">
              <a:buNone/>
            </a:pPr>
            <a:r>
              <a:rPr lang="en-US" sz="1100" dirty="0">
                <a:solidFill>
                  <a:srgbClr val="36454F"/>
                </a:solidFill>
                <a:latin typeface="Calibri" pitchFamily="34" charset="0"/>
                <a:ea typeface="Calibri" pitchFamily="34" charset="-122"/>
                <a:cs typeface="Calibri" pitchFamily="34" charset="-120"/>
              </a:rPr>
              <a:t>BERT + XGBoost hybrid</a:t>
            </a:r>
            <a:endParaRPr lang="en-US" sz="1100" dirty="0"/>
          </a:p>
          <a:p>
            <a:pPr marL="0" indent="0">
              <a:buNone/>
            </a:pPr>
            <a:r>
              <a:rPr lang="en-US" sz="1100" dirty="0">
                <a:solidFill>
                  <a:srgbClr val="36454F"/>
                </a:solidFill>
                <a:latin typeface="Calibri" pitchFamily="34" charset="0"/>
                <a:ea typeface="Calibri" pitchFamily="34" charset="-122"/>
                <a:cs typeface="Calibri" pitchFamily="34" charset="-120"/>
              </a:rPr>
              <a:t>+ Qwen3-VL-8B LLM</a:t>
            </a:r>
            <a:endParaRPr lang="en-US" sz="1100" dirty="0"/>
          </a:p>
          <a:p>
            <a:pPr marL="0" indent="0">
              <a:buNone/>
            </a:pPr>
            <a:r>
              <a:rPr lang="en-US" sz="1100" dirty="0">
                <a:solidFill>
                  <a:srgbClr val="36454F"/>
                </a:solidFill>
                <a:latin typeface="Calibri" pitchFamily="34" charset="0"/>
                <a:ea typeface="Calibri" pitchFamily="34" charset="-122"/>
                <a:cs typeface="Calibri" pitchFamily="34" charset="-120"/>
              </a:rPr>
              <a:t>adjudicator</a:t>
            </a:r>
            <a:endParaRPr lang="en-US" sz="1100" dirty="0"/>
          </a:p>
        </p:txBody>
      </p:sp>
      <p:sp>
        <p:nvSpPr>
          <p:cNvPr id="11" name="Shape 9"/>
          <p:cNvSpPr/>
          <p:nvPr/>
        </p:nvSpPr>
        <p:spPr>
          <a:xfrm>
            <a:off x="4407408" y="1920240"/>
            <a:ext cx="201168" cy="54864"/>
          </a:xfrm>
          <a:prstGeom prst="rect">
            <a:avLst/>
          </a:prstGeom>
          <a:solidFill>
            <a:srgbClr val="8A9BB0"/>
          </a:solidFill>
          <a:ln w="12700">
            <a:solidFill>
              <a:srgbClr val="8A9BB0"/>
            </a:solidFill>
            <a:prstDash val="solid"/>
          </a:ln>
        </p:spPr>
      </p:sp>
      <p:sp>
        <p:nvSpPr>
          <p:cNvPr id="12" name="Shape 10"/>
          <p:cNvSpPr/>
          <p:nvPr/>
        </p:nvSpPr>
        <p:spPr>
          <a:xfrm>
            <a:off x="4608576" y="822960"/>
            <a:ext cx="1965960" cy="2286000"/>
          </a:xfrm>
          <a:prstGeom prst="rect">
            <a:avLst/>
          </a:prstGeom>
          <a:solidFill>
            <a:srgbClr val="F7F7F7"/>
          </a:solidFill>
          <a:ln w="12700">
            <a:solidFill>
              <a:srgbClr val="D8DEE4"/>
            </a:solidFill>
            <a:prstDash val="solid"/>
          </a:ln>
        </p:spPr>
      </p:sp>
      <p:sp>
        <p:nvSpPr>
          <p:cNvPr id="13" name="Text 11"/>
          <p:cNvSpPr/>
          <p:nvPr/>
        </p:nvSpPr>
        <p:spPr>
          <a:xfrm>
            <a:off x="4700016" y="989592"/>
            <a:ext cx="1783080" cy="411480"/>
          </a:xfrm>
          <a:prstGeom prst="rect">
            <a:avLst/>
          </a:prstGeom>
          <a:noFill/>
          <a:ln/>
        </p:spPr>
        <p:txBody>
          <a:bodyPr wrap="square" lIns="0" tIns="0" rIns="0" bIns="0" rtlCol="0" anchor="ctr"/>
          <a:lstStyle/>
          <a:p>
            <a:pPr marL="0" indent="0">
              <a:buNone/>
            </a:pPr>
            <a:r>
              <a:rPr lang="en-US" sz="1100" b="1" dirty="0">
                <a:solidFill>
                  <a:srgbClr val="4A90D9"/>
                </a:solidFill>
                <a:latin typeface="Georgia" pitchFamily="34" charset="0"/>
                <a:ea typeface="Georgia" pitchFamily="34" charset="-122"/>
                <a:cs typeface="Georgia" pitchFamily="34" charset="-120"/>
              </a:rPr>
              <a:t>3  SHAP (Shapley Addictive Explanation)</a:t>
            </a:r>
            <a:br>
              <a:rPr lang="en-US" sz="1100" b="1" dirty="0">
                <a:solidFill>
                  <a:srgbClr val="4A90D9"/>
                </a:solidFill>
                <a:latin typeface="Georgia" pitchFamily="34" charset="0"/>
                <a:ea typeface="Georgia" pitchFamily="34" charset="-122"/>
                <a:cs typeface="Georgia" pitchFamily="34" charset="-120"/>
              </a:rPr>
            </a:br>
            <a:r>
              <a:rPr lang="en-US" sz="1100" b="1" dirty="0">
                <a:solidFill>
                  <a:srgbClr val="4A90D9"/>
                </a:solidFill>
                <a:latin typeface="Georgia" pitchFamily="34" charset="0"/>
                <a:ea typeface="Georgia" pitchFamily="34" charset="-122"/>
                <a:cs typeface="Georgia" pitchFamily="34" charset="-120"/>
              </a:rPr>
              <a:t>Explanations</a:t>
            </a:r>
            <a:endParaRPr lang="en-US" sz="1100" dirty="0"/>
          </a:p>
        </p:txBody>
      </p:sp>
      <p:sp>
        <p:nvSpPr>
          <p:cNvPr id="14" name="Text 12"/>
          <p:cNvSpPr/>
          <p:nvPr/>
        </p:nvSpPr>
        <p:spPr>
          <a:xfrm>
            <a:off x="4700016" y="1325880"/>
            <a:ext cx="1783080" cy="1691640"/>
          </a:xfrm>
          <a:prstGeom prst="rect">
            <a:avLst/>
          </a:prstGeom>
          <a:noFill/>
          <a:ln/>
        </p:spPr>
        <p:txBody>
          <a:bodyPr wrap="square" lIns="0" tIns="0" rIns="0" bIns="0" rtlCol="0" anchor="ctr"/>
          <a:lstStyle/>
          <a:p>
            <a:pPr marL="0" indent="0">
              <a:buNone/>
            </a:pPr>
            <a:r>
              <a:rPr lang="en-US" sz="1100" dirty="0">
                <a:solidFill>
                  <a:srgbClr val="36454F"/>
                </a:solidFill>
                <a:latin typeface="Calibri" pitchFamily="34" charset="0"/>
                <a:ea typeface="Calibri" pitchFamily="34" charset="-122"/>
                <a:cs typeface="Calibri" pitchFamily="34" charset="-120"/>
              </a:rPr>
              <a:t>Each criterion score</a:t>
            </a:r>
            <a:endParaRPr lang="en-US" sz="1100" dirty="0"/>
          </a:p>
          <a:p>
            <a:pPr marL="0" indent="0">
              <a:buNone/>
            </a:pPr>
            <a:r>
              <a:rPr lang="en-US" sz="1100" dirty="0">
                <a:solidFill>
                  <a:srgbClr val="36454F"/>
                </a:solidFill>
                <a:latin typeface="Calibri" pitchFamily="34" charset="0"/>
                <a:ea typeface="Calibri" pitchFamily="34" charset="-122"/>
                <a:cs typeface="Calibri" pitchFamily="34" charset="-120"/>
              </a:rPr>
              <a:t>explained by contributing</a:t>
            </a:r>
            <a:endParaRPr lang="en-US" sz="1100" dirty="0"/>
          </a:p>
          <a:p>
            <a:pPr marL="0" indent="0">
              <a:buNone/>
            </a:pPr>
            <a:r>
              <a:rPr lang="en-US" sz="1100" dirty="0">
                <a:solidFill>
                  <a:srgbClr val="36454F"/>
                </a:solidFill>
                <a:latin typeface="Calibri" pitchFamily="34" charset="0"/>
                <a:ea typeface="Calibri" pitchFamily="34" charset="-122"/>
                <a:cs typeface="Calibri" pitchFamily="34" charset="-120"/>
              </a:rPr>
              <a:t>linguistic features</a:t>
            </a:r>
            <a:endParaRPr lang="en-US" sz="1100" dirty="0"/>
          </a:p>
        </p:txBody>
      </p:sp>
      <p:sp>
        <p:nvSpPr>
          <p:cNvPr id="15" name="Shape 13"/>
          <p:cNvSpPr/>
          <p:nvPr/>
        </p:nvSpPr>
        <p:spPr>
          <a:xfrm>
            <a:off x="6574536" y="1920240"/>
            <a:ext cx="201168" cy="54864"/>
          </a:xfrm>
          <a:prstGeom prst="rect">
            <a:avLst/>
          </a:prstGeom>
          <a:solidFill>
            <a:srgbClr val="8A9BB0"/>
          </a:solidFill>
          <a:ln w="12700">
            <a:solidFill>
              <a:srgbClr val="8A9BB0"/>
            </a:solidFill>
            <a:prstDash val="solid"/>
          </a:ln>
        </p:spPr>
      </p:sp>
      <p:sp>
        <p:nvSpPr>
          <p:cNvPr id="16" name="Shape 14"/>
          <p:cNvSpPr/>
          <p:nvPr/>
        </p:nvSpPr>
        <p:spPr>
          <a:xfrm>
            <a:off x="6775704" y="822960"/>
            <a:ext cx="1965960" cy="2286000"/>
          </a:xfrm>
          <a:prstGeom prst="rect">
            <a:avLst/>
          </a:prstGeom>
          <a:solidFill>
            <a:srgbClr val="F7F7F7"/>
          </a:solidFill>
          <a:ln w="12700">
            <a:solidFill>
              <a:srgbClr val="D8DEE4"/>
            </a:solidFill>
            <a:prstDash val="solid"/>
          </a:ln>
        </p:spPr>
      </p:sp>
      <p:sp>
        <p:nvSpPr>
          <p:cNvPr id="17" name="Text 15"/>
          <p:cNvSpPr/>
          <p:nvPr/>
        </p:nvSpPr>
        <p:spPr>
          <a:xfrm>
            <a:off x="6867144" y="868680"/>
            <a:ext cx="1783080" cy="411480"/>
          </a:xfrm>
          <a:prstGeom prst="rect">
            <a:avLst/>
          </a:prstGeom>
          <a:noFill/>
          <a:ln/>
        </p:spPr>
        <p:txBody>
          <a:bodyPr wrap="square" lIns="0" tIns="0" rIns="0" bIns="0" rtlCol="0" anchor="ctr"/>
          <a:lstStyle/>
          <a:p>
            <a:pPr marL="0" indent="0">
              <a:buNone/>
            </a:pPr>
            <a:r>
              <a:rPr lang="en-US" sz="1100" b="1" dirty="0">
                <a:solidFill>
                  <a:srgbClr val="4A90D9"/>
                </a:solidFill>
                <a:latin typeface="Georgia" pitchFamily="34" charset="0"/>
                <a:ea typeface="Georgia" pitchFamily="34" charset="-122"/>
                <a:cs typeface="Georgia" pitchFamily="34" charset="-120"/>
              </a:rPr>
              <a:t>4  Teacher Override</a:t>
            </a:r>
            <a:endParaRPr lang="en-US" sz="1100" dirty="0"/>
          </a:p>
        </p:txBody>
      </p:sp>
      <p:sp>
        <p:nvSpPr>
          <p:cNvPr id="18" name="Text 16"/>
          <p:cNvSpPr/>
          <p:nvPr/>
        </p:nvSpPr>
        <p:spPr>
          <a:xfrm>
            <a:off x="6867144" y="1325880"/>
            <a:ext cx="1783080" cy="1691640"/>
          </a:xfrm>
          <a:prstGeom prst="rect">
            <a:avLst/>
          </a:prstGeom>
          <a:noFill/>
          <a:ln/>
        </p:spPr>
        <p:txBody>
          <a:bodyPr wrap="square" lIns="0" tIns="0" rIns="0" bIns="0" rtlCol="0" anchor="ctr"/>
          <a:lstStyle/>
          <a:p>
            <a:pPr marL="0" indent="0">
              <a:buNone/>
            </a:pPr>
            <a:r>
              <a:rPr lang="en-US" sz="1100" dirty="0">
                <a:solidFill>
                  <a:srgbClr val="36454F"/>
                </a:solidFill>
                <a:latin typeface="Calibri" pitchFamily="34" charset="0"/>
                <a:ea typeface="Calibri" pitchFamily="34" charset="-122"/>
                <a:cs typeface="Calibri" pitchFamily="34" charset="-120"/>
              </a:rPr>
              <a:t>Human-in-the-loop:</a:t>
            </a:r>
            <a:endParaRPr lang="en-US" sz="1100" dirty="0"/>
          </a:p>
          <a:p>
            <a:pPr marL="0" indent="0">
              <a:buNone/>
            </a:pPr>
            <a:r>
              <a:rPr lang="en-US" sz="1100" dirty="0">
                <a:solidFill>
                  <a:srgbClr val="36454F"/>
                </a:solidFill>
                <a:latin typeface="Calibri" pitchFamily="34" charset="0"/>
                <a:ea typeface="Calibri" pitchFamily="34" charset="-122"/>
                <a:cs typeface="Calibri" pitchFamily="34" charset="-120"/>
              </a:rPr>
              <a:t>teacher validates or</a:t>
            </a:r>
            <a:endParaRPr lang="en-US" sz="1100" dirty="0"/>
          </a:p>
          <a:p>
            <a:pPr marL="0" indent="0">
              <a:buNone/>
            </a:pPr>
            <a:r>
              <a:rPr lang="en-US" sz="1100" dirty="0">
                <a:solidFill>
                  <a:srgbClr val="36454F"/>
                </a:solidFill>
                <a:latin typeface="Calibri" pitchFamily="34" charset="0"/>
                <a:ea typeface="Calibri" pitchFamily="34" charset="-122"/>
                <a:cs typeface="Calibri" pitchFamily="34" charset="-120"/>
              </a:rPr>
              <a:t>corrects AI scores</a:t>
            </a:r>
            <a:endParaRPr lang="en-US" sz="1100" dirty="0"/>
          </a:p>
        </p:txBody>
      </p:sp>
      <p:sp>
        <p:nvSpPr>
          <p:cNvPr id="19" name="Text 17"/>
          <p:cNvSpPr/>
          <p:nvPr/>
        </p:nvSpPr>
        <p:spPr>
          <a:xfrm>
            <a:off x="274320" y="3337560"/>
            <a:ext cx="1828800" cy="320040"/>
          </a:xfrm>
          <a:prstGeom prst="rect">
            <a:avLst/>
          </a:prstGeom>
          <a:noFill/>
          <a:ln/>
        </p:spPr>
        <p:txBody>
          <a:bodyPr wrap="square" lIns="0" tIns="0" rIns="0" bIns="0" rtlCol="0" anchor="ctr"/>
          <a:lstStyle/>
          <a:p>
            <a:pPr marL="0" indent="0">
              <a:buNone/>
            </a:pPr>
            <a:r>
              <a:rPr lang="en-US" sz="1200" b="1" dirty="0">
                <a:solidFill>
                  <a:srgbClr val="1A1A2E"/>
                </a:solidFill>
                <a:latin typeface="Georgia" pitchFamily="34" charset="0"/>
                <a:ea typeface="Georgia" pitchFamily="34" charset="-122"/>
                <a:cs typeface="Georgia" pitchFamily="34" charset="-120"/>
              </a:rPr>
              <a:t>Scored Criteria:</a:t>
            </a:r>
            <a:endParaRPr lang="en-US" sz="1200" dirty="0"/>
          </a:p>
        </p:txBody>
      </p:sp>
      <p:sp>
        <p:nvSpPr>
          <p:cNvPr id="20" name="Shape 18"/>
          <p:cNvSpPr/>
          <p:nvPr/>
        </p:nvSpPr>
        <p:spPr>
          <a:xfrm>
            <a:off x="274320" y="3749040"/>
            <a:ext cx="1965960" cy="502920"/>
          </a:xfrm>
          <a:prstGeom prst="rect">
            <a:avLst/>
          </a:prstGeom>
          <a:solidFill>
            <a:srgbClr val="4A90D9"/>
          </a:solidFill>
          <a:ln w="12700">
            <a:solidFill>
              <a:srgbClr val="4A90D9"/>
            </a:solidFill>
            <a:prstDash val="solid"/>
          </a:ln>
        </p:spPr>
      </p:sp>
      <p:sp>
        <p:nvSpPr>
          <p:cNvPr id="21" name="Text 19"/>
          <p:cNvSpPr/>
          <p:nvPr/>
        </p:nvSpPr>
        <p:spPr>
          <a:xfrm>
            <a:off x="320040" y="3749040"/>
            <a:ext cx="1874520" cy="5029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Task Achievement</a:t>
            </a:r>
            <a:endParaRPr lang="en-US" sz="1000" dirty="0"/>
          </a:p>
        </p:txBody>
      </p:sp>
      <p:sp>
        <p:nvSpPr>
          <p:cNvPr id="22" name="Shape 20"/>
          <p:cNvSpPr/>
          <p:nvPr/>
        </p:nvSpPr>
        <p:spPr>
          <a:xfrm>
            <a:off x="2441448" y="3749040"/>
            <a:ext cx="1965960" cy="502920"/>
          </a:xfrm>
          <a:prstGeom prst="rect">
            <a:avLst/>
          </a:prstGeom>
          <a:solidFill>
            <a:srgbClr val="4A90D9"/>
          </a:solidFill>
          <a:ln w="12700">
            <a:solidFill>
              <a:srgbClr val="4A90D9"/>
            </a:solidFill>
            <a:prstDash val="solid"/>
          </a:ln>
        </p:spPr>
      </p:sp>
      <p:sp>
        <p:nvSpPr>
          <p:cNvPr id="23" name="Text 21"/>
          <p:cNvSpPr/>
          <p:nvPr/>
        </p:nvSpPr>
        <p:spPr>
          <a:xfrm>
            <a:off x="2487168" y="3749040"/>
            <a:ext cx="1874520" cy="5029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Coherence &amp; Cohesion</a:t>
            </a:r>
            <a:endParaRPr lang="en-US" sz="1000" dirty="0"/>
          </a:p>
        </p:txBody>
      </p:sp>
      <p:sp>
        <p:nvSpPr>
          <p:cNvPr id="24" name="Shape 22"/>
          <p:cNvSpPr/>
          <p:nvPr/>
        </p:nvSpPr>
        <p:spPr>
          <a:xfrm>
            <a:off x="4608576" y="3749040"/>
            <a:ext cx="1965960" cy="502920"/>
          </a:xfrm>
          <a:prstGeom prst="rect">
            <a:avLst/>
          </a:prstGeom>
          <a:solidFill>
            <a:srgbClr val="4A90D9"/>
          </a:solidFill>
          <a:ln w="12700">
            <a:solidFill>
              <a:srgbClr val="4A90D9"/>
            </a:solidFill>
            <a:prstDash val="solid"/>
          </a:ln>
        </p:spPr>
      </p:sp>
      <p:sp>
        <p:nvSpPr>
          <p:cNvPr id="25" name="Text 23"/>
          <p:cNvSpPr/>
          <p:nvPr/>
        </p:nvSpPr>
        <p:spPr>
          <a:xfrm>
            <a:off x="4654296" y="3749040"/>
            <a:ext cx="1874520" cy="5029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Lexical Resource</a:t>
            </a:r>
            <a:endParaRPr lang="en-US" sz="1000" dirty="0"/>
          </a:p>
        </p:txBody>
      </p:sp>
      <p:sp>
        <p:nvSpPr>
          <p:cNvPr id="26" name="Shape 24"/>
          <p:cNvSpPr/>
          <p:nvPr/>
        </p:nvSpPr>
        <p:spPr>
          <a:xfrm>
            <a:off x="6775704" y="3749040"/>
            <a:ext cx="1965960" cy="502920"/>
          </a:xfrm>
          <a:prstGeom prst="rect">
            <a:avLst/>
          </a:prstGeom>
          <a:solidFill>
            <a:srgbClr val="4A90D9"/>
          </a:solidFill>
          <a:ln w="12700">
            <a:solidFill>
              <a:srgbClr val="4A90D9"/>
            </a:solidFill>
            <a:prstDash val="solid"/>
          </a:ln>
        </p:spPr>
      </p:sp>
      <p:sp>
        <p:nvSpPr>
          <p:cNvPr id="27" name="Text 25"/>
          <p:cNvSpPr/>
          <p:nvPr/>
        </p:nvSpPr>
        <p:spPr>
          <a:xfrm>
            <a:off x="6821424" y="3749040"/>
            <a:ext cx="1874520" cy="5029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Grammatical Range &amp; Accuracy</a:t>
            </a:r>
            <a:endParaRPr lang="en-US" sz="1000" dirty="0"/>
          </a:p>
        </p:txBody>
      </p:sp>
      <p:sp>
        <p:nvSpPr>
          <p:cNvPr id="28" name="Text 26"/>
          <p:cNvSpPr/>
          <p:nvPr/>
        </p:nvSpPr>
        <p:spPr>
          <a:xfrm>
            <a:off x="274320" y="4480560"/>
            <a:ext cx="8595360" cy="365760"/>
          </a:xfrm>
          <a:prstGeom prst="rect">
            <a:avLst/>
          </a:prstGeom>
          <a:noFill/>
          <a:ln/>
        </p:spPr>
        <p:txBody>
          <a:bodyPr wrap="square" lIns="0" tIns="0" rIns="0" bIns="0" rtlCol="0" anchor="ctr"/>
          <a:lstStyle/>
          <a:p>
            <a:pPr marL="0" indent="0">
              <a:buNone/>
            </a:pPr>
            <a:r>
              <a:rPr lang="en-US" sz="1100" i="1" dirty="0">
                <a:solidFill>
                  <a:srgbClr val="8A9BB0"/>
                </a:solidFill>
                <a:latin typeface="Calibri" pitchFamily="34" charset="0"/>
                <a:ea typeface="Calibri" pitchFamily="34" charset="-122"/>
                <a:cs typeface="Calibri" pitchFamily="34" charset="-120"/>
              </a:rPr>
              <a:t>Final band scores always reflect teacher-validated assessment — AI prediction is advisory only.</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A1A2E"/>
          </a:solidFill>
          <a:ln w="12700">
            <a:solidFill>
              <a:srgbClr val="1A1A2E"/>
            </a:solidFill>
            <a:prstDash val="solid"/>
          </a:ln>
        </p:spPr>
      </p:sp>
      <p:sp>
        <p:nvSpPr>
          <p:cNvPr id="3" name="Text 1"/>
          <p:cNvSpPr/>
          <p:nvPr/>
        </p:nvSpPr>
        <p:spPr>
          <a:xfrm>
            <a:off x="457200" y="0"/>
            <a:ext cx="8229600" cy="640080"/>
          </a:xfrm>
          <a:prstGeom prst="rect">
            <a:avLst/>
          </a:prstGeom>
          <a:noFill/>
          <a:ln/>
        </p:spPr>
        <p:txBody>
          <a:bodyPr wrap="square" lIns="0" tIns="0" rIns="0" bIns="0" rtlCol="0" anchor="ctr"/>
          <a:lstStyle/>
          <a:p>
            <a:pPr marL="0" indent="0">
              <a:buNone/>
            </a:pPr>
            <a:r>
              <a:rPr lang="en-US" sz="2000" b="1" dirty="0">
                <a:solidFill>
                  <a:srgbClr val="FFFFFF"/>
                </a:solidFill>
                <a:latin typeface="Georgia" pitchFamily="34" charset="0"/>
                <a:ea typeface="Georgia" pitchFamily="34" charset="-122"/>
                <a:cs typeface="Georgia" pitchFamily="34" charset="-120"/>
              </a:rPr>
              <a:t>Training Corpus</a:t>
            </a:r>
            <a:endParaRPr lang="en-US" sz="2000" dirty="0"/>
          </a:p>
        </p:txBody>
      </p:sp>
      <p:sp>
        <p:nvSpPr>
          <p:cNvPr id="4" name="Shape 2"/>
          <p:cNvSpPr/>
          <p:nvPr/>
        </p:nvSpPr>
        <p:spPr>
          <a:xfrm>
            <a:off x="320040" y="822960"/>
            <a:ext cx="4389120" cy="1691640"/>
          </a:xfrm>
          <a:prstGeom prst="rect">
            <a:avLst/>
          </a:prstGeom>
          <a:solidFill>
            <a:srgbClr val="F7F7F7"/>
          </a:solidFill>
          <a:ln w="12700">
            <a:solidFill>
              <a:srgbClr val="D8DEE4"/>
            </a:solidFill>
            <a:prstDash val="solid"/>
          </a:ln>
        </p:spPr>
      </p:sp>
      <p:sp>
        <p:nvSpPr>
          <p:cNvPr id="5" name="Shape 3"/>
          <p:cNvSpPr/>
          <p:nvPr/>
        </p:nvSpPr>
        <p:spPr>
          <a:xfrm>
            <a:off x="320040" y="822960"/>
            <a:ext cx="54864" cy="1691640"/>
          </a:xfrm>
          <a:prstGeom prst="rect">
            <a:avLst/>
          </a:prstGeom>
          <a:solidFill>
            <a:srgbClr val="4A90D9"/>
          </a:solidFill>
          <a:ln w="12700">
            <a:solidFill>
              <a:srgbClr val="4A90D9"/>
            </a:solidFill>
            <a:prstDash val="solid"/>
          </a:ln>
        </p:spPr>
      </p:sp>
      <p:sp>
        <p:nvSpPr>
          <p:cNvPr id="6" name="Text 4"/>
          <p:cNvSpPr/>
          <p:nvPr/>
        </p:nvSpPr>
        <p:spPr>
          <a:xfrm>
            <a:off x="502920" y="914400"/>
            <a:ext cx="4023360" cy="320040"/>
          </a:xfrm>
          <a:prstGeom prst="rect">
            <a:avLst/>
          </a:prstGeom>
          <a:noFill/>
          <a:ln/>
        </p:spPr>
        <p:txBody>
          <a:bodyPr wrap="square" lIns="0" tIns="0" rIns="0" bIns="0" rtlCol="0" anchor="ctr"/>
          <a:lstStyle/>
          <a:p>
            <a:pPr marL="0" indent="0">
              <a:buNone/>
            </a:pPr>
            <a:r>
              <a:rPr lang="en-US" sz="1200" b="1" dirty="0">
                <a:solidFill>
                  <a:srgbClr val="1A1A2E"/>
                </a:solidFill>
                <a:latin typeface="Georgia" pitchFamily="34" charset="0"/>
                <a:ea typeface="Georgia" pitchFamily="34" charset="-122"/>
                <a:cs typeface="Georgia" pitchFamily="34" charset="-120"/>
              </a:rPr>
              <a:t>Scraped — Writing9.com</a:t>
            </a:r>
            <a:endParaRPr lang="en-US" sz="1200" dirty="0"/>
          </a:p>
        </p:txBody>
      </p:sp>
      <p:sp>
        <p:nvSpPr>
          <p:cNvPr id="7" name="Text 5"/>
          <p:cNvSpPr/>
          <p:nvPr/>
        </p:nvSpPr>
        <p:spPr>
          <a:xfrm>
            <a:off x="502920" y="1234440"/>
            <a:ext cx="1767314" cy="320040"/>
          </a:xfrm>
          <a:prstGeom prst="rect">
            <a:avLst/>
          </a:prstGeom>
          <a:noFill/>
          <a:ln/>
        </p:spPr>
        <p:txBody>
          <a:bodyPr wrap="square" lIns="0" tIns="0" rIns="0" bIns="0" rtlCol="0" anchor="ctr"/>
          <a:lstStyle/>
          <a:p>
            <a:pPr marL="0" indent="0">
              <a:buNone/>
            </a:pPr>
            <a:r>
              <a:rPr lang="en-US" sz="2200" b="1" dirty="0">
                <a:solidFill>
                  <a:srgbClr val="4A90D9"/>
                </a:solidFill>
                <a:latin typeface="Georgia" pitchFamily="34" charset="0"/>
                <a:ea typeface="Georgia" pitchFamily="34" charset="-122"/>
                <a:cs typeface="Georgia" pitchFamily="34" charset="-120"/>
              </a:rPr>
              <a:t>300 essays</a:t>
            </a:r>
            <a:endParaRPr lang="en-US" sz="2200" dirty="0"/>
          </a:p>
        </p:txBody>
      </p:sp>
      <p:sp>
        <p:nvSpPr>
          <p:cNvPr id="8" name="Text 6"/>
          <p:cNvSpPr/>
          <p:nvPr/>
        </p:nvSpPr>
        <p:spPr>
          <a:xfrm>
            <a:off x="502920" y="1572768"/>
            <a:ext cx="4069080" cy="822960"/>
          </a:xfrm>
          <a:prstGeom prst="rect">
            <a:avLst/>
          </a:prstGeom>
          <a:noFill/>
          <a:ln/>
        </p:spPr>
        <p:txBody>
          <a:bodyPr wrap="square" lIns="0" tIns="0" rIns="0" bIns="0" rtlCol="0" anchor="ctr"/>
          <a:lstStyle/>
          <a:p>
            <a:pPr marL="0" indent="0">
              <a:buNone/>
            </a:pPr>
            <a:r>
              <a:rPr lang="en-US" sz="1100" dirty="0">
                <a:solidFill>
                  <a:srgbClr val="36454F"/>
                </a:solidFill>
                <a:latin typeface="Calibri" pitchFamily="34" charset="0"/>
                <a:ea typeface="Calibri" pitchFamily="34" charset="-122"/>
                <a:cs typeface="Calibri" pitchFamily="34" charset="-120"/>
              </a:rPr>
              <a:t>100 Academic T1 · 100 General T1 · 100 Task 2</a:t>
            </a:r>
            <a:endParaRPr lang="en-US" sz="1100" dirty="0"/>
          </a:p>
          <a:p>
            <a:pPr marL="0" indent="0">
              <a:buNone/>
            </a:pPr>
            <a:r>
              <a:rPr lang="en-US" sz="1100" dirty="0">
                <a:solidFill>
                  <a:srgbClr val="36454F"/>
                </a:solidFill>
                <a:latin typeface="Calibri" pitchFamily="34" charset="0"/>
                <a:ea typeface="Calibri" pitchFamily="34" charset="-122"/>
                <a:cs typeface="Calibri" pitchFamily="34" charset="-120"/>
              </a:rPr>
              <a:t>Mean overall band: 6.70</a:t>
            </a:r>
            <a:endParaRPr lang="en-US" sz="1100" dirty="0"/>
          </a:p>
          <a:p>
            <a:pPr marL="0" indent="0">
              <a:buNone/>
            </a:pPr>
            <a:r>
              <a:rPr lang="en-US" sz="1100" dirty="0">
                <a:solidFill>
                  <a:srgbClr val="36454F"/>
                </a:solidFill>
                <a:latin typeface="Calibri" pitchFamily="34" charset="0"/>
                <a:ea typeface="Calibri" pitchFamily="34" charset="-122"/>
                <a:cs typeface="Calibri" pitchFamily="34" charset="-120"/>
              </a:rPr>
              <a:t>Real student submissions</a:t>
            </a:r>
            <a:endParaRPr lang="en-US" sz="1100" dirty="0"/>
          </a:p>
        </p:txBody>
      </p:sp>
      <p:sp>
        <p:nvSpPr>
          <p:cNvPr id="9" name="Shape 7"/>
          <p:cNvSpPr/>
          <p:nvPr/>
        </p:nvSpPr>
        <p:spPr>
          <a:xfrm>
            <a:off x="320040" y="2743200"/>
            <a:ext cx="4389120" cy="1691640"/>
          </a:xfrm>
          <a:prstGeom prst="rect">
            <a:avLst/>
          </a:prstGeom>
          <a:solidFill>
            <a:srgbClr val="F7F7F7"/>
          </a:solidFill>
          <a:ln w="12700">
            <a:solidFill>
              <a:srgbClr val="D8DEE4"/>
            </a:solidFill>
            <a:prstDash val="solid"/>
          </a:ln>
        </p:spPr>
      </p:sp>
      <p:sp>
        <p:nvSpPr>
          <p:cNvPr id="10" name="Shape 8"/>
          <p:cNvSpPr/>
          <p:nvPr/>
        </p:nvSpPr>
        <p:spPr>
          <a:xfrm>
            <a:off x="320040" y="2743200"/>
            <a:ext cx="54864" cy="1691640"/>
          </a:xfrm>
          <a:prstGeom prst="rect">
            <a:avLst/>
          </a:prstGeom>
          <a:solidFill>
            <a:srgbClr val="4A90D9"/>
          </a:solidFill>
          <a:ln w="12700">
            <a:solidFill>
              <a:srgbClr val="4A90D9"/>
            </a:solidFill>
            <a:prstDash val="solid"/>
          </a:ln>
        </p:spPr>
      </p:sp>
      <p:sp>
        <p:nvSpPr>
          <p:cNvPr id="11" name="Text 9"/>
          <p:cNvSpPr/>
          <p:nvPr/>
        </p:nvSpPr>
        <p:spPr>
          <a:xfrm>
            <a:off x="502920" y="2834640"/>
            <a:ext cx="4023360" cy="320040"/>
          </a:xfrm>
          <a:prstGeom prst="rect">
            <a:avLst/>
          </a:prstGeom>
          <a:noFill/>
          <a:ln/>
        </p:spPr>
        <p:txBody>
          <a:bodyPr wrap="square" lIns="0" tIns="0" rIns="0" bIns="0" rtlCol="0" anchor="ctr"/>
          <a:lstStyle/>
          <a:p>
            <a:pPr marL="0" indent="0">
              <a:buNone/>
            </a:pPr>
            <a:r>
              <a:rPr lang="en-US" sz="1200" b="1" dirty="0">
                <a:solidFill>
                  <a:srgbClr val="1A1A2E"/>
                </a:solidFill>
                <a:latin typeface="Georgia" pitchFamily="34" charset="0"/>
                <a:ea typeface="Georgia" pitchFamily="34" charset="-122"/>
                <a:cs typeface="Georgia" pitchFamily="34" charset="-120"/>
              </a:rPr>
              <a:t>Synthetic — Google Gemini</a:t>
            </a:r>
            <a:endParaRPr lang="en-US" sz="1200" dirty="0"/>
          </a:p>
        </p:txBody>
      </p:sp>
      <p:sp>
        <p:nvSpPr>
          <p:cNvPr id="12" name="Text 10"/>
          <p:cNvSpPr/>
          <p:nvPr/>
        </p:nvSpPr>
        <p:spPr>
          <a:xfrm>
            <a:off x="502919" y="3154680"/>
            <a:ext cx="1552903" cy="320040"/>
          </a:xfrm>
          <a:prstGeom prst="rect">
            <a:avLst/>
          </a:prstGeom>
          <a:noFill/>
          <a:ln/>
        </p:spPr>
        <p:txBody>
          <a:bodyPr wrap="square" lIns="0" tIns="0" rIns="0" bIns="0" rtlCol="0" anchor="ctr"/>
          <a:lstStyle/>
          <a:p>
            <a:pPr marL="0" indent="0">
              <a:buNone/>
            </a:pPr>
            <a:r>
              <a:rPr lang="en-US" sz="2200" b="1" dirty="0">
                <a:solidFill>
                  <a:srgbClr val="4A90D9"/>
                </a:solidFill>
                <a:latin typeface="Georgia" pitchFamily="34" charset="0"/>
                <a:ea typeface="Georgia" pitchFamily="34" charset="-122"/>
                <a:cs typeface="Georgia" pitchFamily="34" charset="-120"/>
              </a:rPr>
              <a:t>285 essays</a:t>
            </a:r>
            <a:endParaRPr lang="en-US" sz="2200" dirty="0"/>
          </a:p>
        </p:txBody>
      </p:sp>
      <p:sp>
        <p:nvSpPr>
          <p:cNvPr id="13" name="Text 11"/>
          <p:cNvSpPr/>
          <p:nvPr/>
        </p:nvSpPr>
        <p:spPr>
          <a:xfrm>
            <a:off x="502920" y="3493008"/>
            <a:ext cx="4069080" cy="822960"/>
          </a:xfrm>
          <a:prstGeom prst="rect">
            <a:avLst/>
          </a:prstGeom>
          <a:noFill/>
          <a:ln/>
        </p:spPr>
        <p:txBody>
          <a:bodyPr wrap="square" lIns="0" tIns="0" rIns="0" bIns="0" rtlCol="0" anchor="ctr"/>
          <a:lstStyle/>
          <a:p>
            <a:pPr marL="0" indent="0">
              <a:buNone/>
            </a:pPr>
            <a:r>
              <a:rPr lang="en-US" sz="1100" dirty="0">
                <a:solidFill>
                  <a:srgbClr val="36454F"/>
                </a:solidFill>
                <a:latin typeface="Calibri" pitchFamily="34" charset="0"/>
                <a:ea typeface="Calibri" pitchFamily="34" charset="-122"/>
                <a:cs typeface="Calibri" pitchFamily="34" charset="-120"/>
              </a:rPr>
              <a:t>Targets underrepresented extremes:</a:t>
            </a:r>
            <a:endParaRPr lang="en-US" sz="1100" dirty="0"/>
          </a:p>
          <a:p>
            <a:pPr marL="0" indent="0">
              <a:buNone/>
            </a:pPr>
            <a:r>
              <a:rPr lang="en-US" sz="1100" dirty="0">
                <a:solidFill>
                  <a:srgbClr val="36454F"/>
                </a:solidFill>
                <a:latin typeface="Calibri" pitchFamily="34" charset="0"/>
                <a:ea typeface="Calibri" pitchFamily="34" charset="-122"/>
                <a:cs typeface="Calibri" pitchFamily="34" charset="-120"/>
              </a:rPr>
              <a:t>Band 3.5–5.0 and Band 8.0–9.0</a:t>
            </a:r>
            <a:endParaRPr lang="en-US" sz="1100" dirty="0"/>
          </a:p>
          <a:p>
            <a:pPr marL="0" indent="0">
              <a:buNone/>
            </a:pPr>
            <a:r>
              <a:rPr lang="en-US" sz="1100" dirty="0">
                <a:solidFill>
                  <a:srgbClr val="36454F"/>
                </a:solidFill>
                <a:latin typeface="Calibri" pitchFamily="34" charset="0"/>
                <a:ea typeface="Calibri" pitchFamily="34" charset="-122"/>
                <a:cs typeface="Calibri" pitchFamily="34" charset="-120"/>
              </a:rPr>
              <a:t>Mean overall band: 6.92</a:t>
            </a:r>
            <a:endParaRPr lang="en-US" sz="1100" dirty="0"/>
          </a:p>
        </p:txBody>
      </p:sp>
      <p:sp>
        <p:nvSpPr>
          <p:cNvPr id="14" name="Shape 12"/>
          <p:cNvSpPr/>
          <p:nvPr/>
        </p:nvSpPr>
        <p:spPr>
          <a:xfrm>
            <a:off x="5029200" y="822960"/>
            <a:ext cx="3794760" cy="3749040"/>
          </a:xfrm>
          <a:prstGeom prst="rect">
            <a:avLst/>
          </a:prstGeom>
          <a:solidFill>
            <a:srgbClr val="1A1A2E"/>
          </a:solidFill>
          <a:ln w="12700">
            <a:solidFill>
              <a:srgbClr val="1A1A2E"/>
            </a:solidFill>
            <a:prstDash val="solid"/>
          </a:ln>
        </p:spPr>
      </p:sp>
      <p:sp>
        <p:nvSpPr>
          <p:cNvPr id="15" name="Text 13"/>
          <p:cNvSpPr/>
          <p:nvPr/>
        </p:nvSpPr>
        <p:spPr>
          <a:xfrm>
            <a:off x="5166360" y="960120"/>
            <a:ext cx="3520440" cy="365760"/>
          </a:xfrm>
          <a:prstGeom prst="rect">
            <a:avLst/>
          </a:prstGeom>
          <a:noFill/>
          <a:ln/>
        </p:spPr>
        <p:txBody>
          <a:bodyPr wrap="square" lIns="0" tIns="0" rIns="0" bIns="0" rtlCol="0" anchor="ctr"/>
          <a:lstStyle/>
          <a:p>
            <a:pPr marL="0" indent="0">
              <a:buNone/>
            </a:pPr>
            <a:r>
              <a:rPr lang="en-US" sz="1300" b="1" dirty="0">
                <a:solidFill>
                  <a:srgbClr val="FFFFFF"/>
                </a:solidFill>
                <a:latin typeface="Georgia" pitchFamily="34" charset="0"/>
                <a:ea typeface="Georgia" pitchFamily="34" charset="-122"/>
                <a:cs typeface="Georgia" pitchFamily="34" charset="-120"/>
              </a:rPr>
              <a:t>Combined Corpus</a:t>
            </a:r>
            <a:endParaRPr lang="en-US" sz="1300" dirty="0"/>
          </a:p>
        </p:txBody>
      </p:sp>
      <p:sp>
        <p:nvSpPr>
          <p:cNvPr id="16" name="Text 14"/>
          <p:cNvSpPr/>
          <p:nvPr/>
        </p:nvSpPr>
        <p:spPr>
          <a:xfrm>
            <a:off x="5166360" y="1463040"/>
            <a:ext cx="1828800" cy="384048"/>
          </a:xfrm>
          <a:prstGeom prst="rect">
            <a:avLst/>
          </a:prstGeom>
          <a:noFill/>
          <a:ln/>
        </p:spPr>
        <p:txBody>
          <a:bodyPr wrap="square" lIns="0" tIns="0" rIns="0" bIns="0" rtlCol="0" anchor="ctr"/>
          <a:lstStyle/>
          <a:p>
            <a:pPr marL="0" indent="0">
              <a:buNone/>
            </a:pPr>
            <a:r>
              <a:rPr lang="en-US" sz="2600" b="1" dirty="0">
                <a:solidFill>
                  <a:srgbClr val="4A90D9"/>
                </a:solidFill>
                <a:latin typeface="Georgia" pitchFamily="34" charset="0"/>
                <a:ea typeface="Georgia" pitchFamily="34" charset="-122"/>
                <a:cs typeface="Georgia" pitchFamily="34" charset="-120"/>
              </a:rPr>
              <a:t>585</a:t>
            </a:r>
            <a:endParaRPr lang="en-US" sz="2600" dirty="0"/>
          </a:p>
        </p:txBody>
      </p:sp>
      <p:sp>
        <p:nvSpPr>
          <p:cNvPr id="17" name="Text 15"/>
          <p:cNvSpPr/>
          <p:nvPr/>
        </p:nvSpPr>
        <p:spPr>
          <a:xfrm>
            <a:off x="6995160" y="1536192"/>
            <a:ext cx="1691640" cy="320040"/>
          </a:xfrm>
          <a:prstGeom prst="rect">
            <a:avLst/>
          </a:prstGeom>
          <a:noFill/>
          <a:ln/>
        </p:spPr>
        <p:txBody>
          <a:bodyPr wrap="square" lIns="0" tIns="0" rIns="0" bIns="0" rtlCol="0" anchor="ctr"/>
          <a:lstStyle/>
          <a:p>
            <a:pPr marL="0" indent="0">
              <a:buNone/>
            </a:pPr>
            <a:r>
              <a:rPr lang="en-US" sz="1200" dirty="0">
                <a:solidFill>
                  <a:srgbClr val="8A9BB0"/>
                </a:solidFill>
                <a:latin typeface="Calibri" pitchFamily="34" charset="0"/>
                <a:ea typeface="Calibri" pitchFamily="34" charset="-122"/>
                <a:cs typeface="Calibri" pitchFamily="34" charset="-120"/>
              </a:rPr>
              <a:t>total essays</a:t>
            </a:r>
            <a:endParaRPr lang="en-US" sz="1200" dirty="0"/>
          </a:p>
        </p:txBody>
      </p:sp>
      <p:sp>
        <p:nvSpPr>
          <p:cNvPr id="18" name="Text 16"/>
          <p:cNvSpPr/>
          <p:nvPr/>
        </p:nvSpPr>
        <p:spPr>
          <a:xfrm>
            <a:off x="5166360" y="2176272"/>
            <a:ext cx="1828800" cy="384048"/>
          </a:xfrm>
          <a:prstGeom prst="rect">
            <a:avLst/>
          </a:prstGeom>
          <a:noFill/>
          <a:ln/>
        </p:spPr>
        <p:txBody>
          <a:bodyPr wrap="square" lIns="0" tIns="0" rIns="0" bIns="0" rtlCol="0" anchor="ctr"/>
          <a:lstStyle/>
          <a:p>
            <a:pPr marL="0" indent="0">
              <a:buNone/>
            </a:pPr>
            <a:r>
              <a:rPr lang="en-US" sz="2600" b="1" dirty="0">
                <a:solidFill>
                  <a:srgbClr val="4A90D9"/>
                </a:solidFill>
                <a:latin typeface="Georgia" pitchFamily="34" charset="0"/>
                <a:ea typeface="Georgia" pitchFamily="34" charset="-122"/>
                <a:cs typeface="Georgia" pitchFamily="34" charset="-120"/>
              </a:rPr>
              <a:t>~6.80</a:t>
            </a:r>
            <a:endParaRPr lang="en-US" sz="2600" dirty="0"/>
          </a:p>
        </p:txBody>
      </p:sp>
      <p:sp>
        <p:nvSpPr>
          <p:cNvPr id="19" name="Text 17"/>
          <p:cNvSpPr/>
          <p:nvPr/>
        </p:nvSpPr>
        <p:spPr>
          <a:xfrm>
            <a:off x="6995160" y="2249424"/>
            <a:ext cx="1691640" cy="320040"/>
          </a:xfrm>
          <a:prstGeom prst="rect">
            <a:avLst/>
          </a:prstGeom>
          <a:noFill/>
          <a:ln/>
        </p:spPr>
        <p:txBody>
          <a:bodyPr wrap="square" lIns="0" tIns="0" rIns="0" bIns="0" rtlCol="0" anchor="ctr"/>
          <a:lstStyle/>
          <a:p>
            <a:pPr marL="0" indent="0">
              <a:buNone/>
            </a:pPr>
            <a:r>
              <a:rPr lang="en-US" sz="1200" dirty="0">
                <a:solidFill>
                  <a:srgbClr val="8A9BB0"/>
                </a:solidFill>
                <a:latin typeface="Calibri" pitchFamily="34" charset="0"/>
                <a:ea typeface="Calibri" pitchFamily="34" charset="-122"/>
                <a:cs typeface="Calibri" pitchFamily="34" charset="-120"/>
              </a:rPr>
              <a:t>mean band score</a:t>
            </a:r>
            <a:endParaRPr lang="en-US" sz="1200" dirty="0"/>
          </a:p>
        </p:txBody>
      </p:sp>
      <p:sp>
        <p:nvSpPr>
          <p:cNvPr id="20" name="Text 18"/>
          <p:cNvSpPr/>
          <p:nvPr/>
        </p:nvSpPr>
        <p:spPr>
          <a:xfrm>
            <a:off x="5166360" y="2889504"/>
            <a:ext cx="1828800" cy="384048"/>
          </a:xfrm>
          <a:prstGeom prst="rect">
            <a:avLst/>
          </a:prstGeom>
          <a:noFill/>
          <a:ln/>
        </p:spPr>
        <p:txBody>
          <a:bodyPr wrap="square" lIns="0" tIns="0" rIns="0" bIns="0" rtlCol="0" anchor="ctr"/>
          <a:lstStyle/>
          <a:p>
            <a:pPr marL="0" indent="0">
              <a:buNone/>
            </a:pPr>
            <a:r>
              <a:rPr lang="en-US" sz="2600" b="1" dirty="0">
                <a:solidFill>
                  <a:srgbClr val="4A90D9"/>
                </a:solidFill>
                <a:latin typeface="Georgia" pitchFamily="34" charset="0"/>
                <a:ea typeface="Georgia" pitchFamily="34" charset="-122"/>
                <a:cs typeface="Georgia" pitchFamily="34" charset="-120"/>
              </a:rPr>
              <a:t>3</a:t>
            </a:r>
            <a:endParaRPr lang="en-US" sz="2600" dirty="0"/>
          </a:p>
        </p:txBody>
      </p:sp>
      <p:sp>
        <p:nvSpPr>
          <p:cNvPr id="21" name="Text 19"/>
          <p:cNvSpPr/>
          <p:nvPr/>
        </p:nvSpPr>
        <p:spPr>
          <a:xfrm>
            <a:off x="6995160" y="2962656"/>
            <a:ext cx="1691640" cy="320040"/>
          </a:xfrm>
          <a:prstGeom prst="rect">
            <a:avLst/>
          </a:prstGeom>
          <a:noFill/>
          <a:ln/>
        </p:spPr>
        <p:txBody>
          <a:bodyPr wrap="square" lIns="0" tIns="0" rIns="0" bIns="0" rtlCol="0" anchor="ctr"/>
          <a:lstStyle/>
          <a:p>
            <a:pPr marL="0" indent="0">
              <a:buNone/>
            </a:pPr>
            <a:r>
              <a:rPr lang="en-US" sz="1200" dirty="0">
                <a:solidFill>
                  <a:srgbClr val="8A9BB0"/>
                </a:solidFill>
                <a:latin typeface="Calibri" pitchFamily="34" charset="0"/>
                <a:ea typeface="Calibri" pitchFamily="34" charset="-122"/>
                <a:cs typeface="Calibri" pitchFamily="34" charset="-120"/>
              </a:rPr>
              <a:t>task types</a:t>
            </a:r>
            <a:endParaRPr lang="en-US" sz="1200" dirty="0"/>
          </a:p>
        </p:txBody>
      </p:sp>
      <p:sp>
        <p:nvSpPr>
          <p:cNvPr id="22" name="Text 20"/>
          <p:cNvSpPr/>
          <p:nvPr/>
        </p:nvSpPr>
        <p:spPr>
          <a:xfrm>
            <a:off x="5166360" y="3602736"/>
            <a:ext cx="1828800" cy="384048"/>
          </a:xfrm>
          <a:prstGeom prst="rect">
            <a:avLst/>
          </a:prstGeom>
          <a:noFill/>
          <a:ln/>
        </p:spPr>
        <p:txBody>
          <a:bodyPr wrap="square" lIns="0" tIns="0" rIns="0" bIns="0" rtlCol="0" anchor="ctr"/>
          <a:lstStyle/>
          <a:p>
            <a:pPr marL="0" indent="0">
              <a:buNone/>
            </a:pPr>
            <a:r>
              <a:rPr lang="en-US" sz="2600" b="1" dirty="0">
                <a:solidFill>
                  <a:srgbClr val="4A90D9"/>
                </a:solidFill>
                <a:latin typeface="Georgia" pitchFamily="34" charset="0"/>
                <a:ea typeface="Georgia" pitchFamily="34" charset="-122"/>
                <a:cs typeface="Georgia" pitchFamily="34" charset="-120"/>
              </a:rPr>
              <a:t>8 fields</a:t>
            </a:r>
            <a:endParaRPr lang="en-US" sz="2600" dirty="0"/>
          </a:p>
        </p:txBody>
      </p:sp>
      <p:sp>
        <p:nvSpPr>
          <p:cNvPr id="23" name="Text 21"/>
          <p:cNvSpPr/>
          <p:nvPr/>
        </p:nvSpPr>
        <p:spPr>
          <a:xfrm>
            <a:off x="6995160" y="3675888"/>
            <a:ext cx="1691640" cy="320040"/>
          </a:xfrm>
          <a:prstGeom prst="rect">
            <a:avLst/>
          </a:prstGeom>
          <a:noFill/>
          <a:ln/>
        </p:spPr>
        <p:txBody>
          <a:bodyPr wrap="square" lIns="0" tIns="0" rIns="0" bIns="0" rtlCol="0" anchor="ctr"/>
          <a:lstStyle/>
          <a:p>
            <a:pPr marL="0" indent="0">
              <a:buNone/>
            </a:pPr>
            <a:r>
              <a:rPr lang="en-US" sz="1200" dirty="0">
                <a:solidFill>
                  <a:srgbClr val="8A9BB0"/>
                </a:solidFill>
                <a:latin typeface="Calibri" pitchFamily="34" charset="0"/>
                <a:ea typeface="Calibri" pitchFamily="34" charset="-122"/>
                <a:cs typeface="Calibri" pitchFamily="34" charset="-120"/>
              </a:rPr>
              <a:t>per record</a:t>
            </a:r>
            <a:endParaRPr lang="en-US" sz="1200" dirty="0"/>
          </a:p>
        </p:txBody>
      </p:sp>
      <p:sp>
        <p:nvSpPr>
          <p:cNvPr id="24" name="Text 22"/>
          <p:cNvSpPr/>
          <p:nvPr/>
        </p:nvSpPr>
        <p:spPr>
          <a:xfrm>
            <a:off x="320040" y="4663440"/>
            <a:ext cx="8503920" cy="347472"/>
          </a:xfrm>
          <a:prstGeom prst="rect">
            <a:avLst/>
          </a:prstGeom>
          <a:noFill/>
          <a:ln/>
        </p:spPr>
        <p:txBody>
          <a:bodyPr wrap="square" lIns="0" tIns="0" rIns="0" bIns="0" rtlCol="0" anchor="ctr"/>
          <a:lstStyle/>
          <a:p>
            <a:pPr marL="0" indent="0">
              <a:buNone/>
            </a:pPr>
            <a:r>
              <a:rPr lang="en-US" sz="1000" i="1" dirty="0">
                <a:solidFill>
                  <a:srgbClr val="8A9BB0"/>
                </a:solidFill>
                <a:latin typeface="Calibri" pitchFamily="34" charset="0"/>
                <a:ea typeface="Calibri" pitchFamily="34" charset="-122"/>
                <a:cs typeface="Calibri" pitchFamily="34" charset="-120"/>
              </a:rPr>
              <a:t>Synthetic data addresses band-score class imbalance at the extremes — real student data clusters in the 5.5–7.0 range.</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A1A2E"/>
          </a:solidFill>
          <a:ln w="12700">
            <a:solidFill>
              <a:srgbClr val="1A1A2E"/>
            </a:solidFill>
            <a:prstDash val="solid"/>
          </a:ln>
        </p:spPr>
      </p:sp>
      <p:sp>
        <p:nvSpPr>
          <p:cNvPr id="3" name="Text 1"/>
          <p:cNvSpPr/>
          <p:nvPr/>
        </p:nvSpPr>
        <p:spPr>
          <a:xfrm>
            <a:off x="457200" y="0"/>
            <a:ext cx="8229600" cy="640080"/>
          </a:xfrm>
          <a:prstGeom prst="rect">
            <a:avLst/>
          </a:prstGeom>
          <a:noFill/>
          <a:ln/>
        </p:spPr>
        <p:txBody>
          <a:bodyPr wrap="square" lIns="0" tIns="0" rIns="0" bIns="0" rtlCol="0" anchor="ctr"/>
          <a:lstStyle/>
          <a:p>
            <a:pPr marL="0" indent="0">
              <a:buNone/>
            </a:pPr>
            <a:r>
              <a:rPr lang="en-US" sz="2000" b="1" dirty="0">
                <a:solidFill>
                  <a:srgbClr val="FFFFFF"/>
                </a:solidFill>
                <a:latin typeface="Georgia" pitchFamily="34" charset="0"/>
                <a:ea typeface="Georgia" pitchFamily="34" charset="-122"/>
                <a:cs typeface="Georgia" pitchFamily="34" charset="-120"/>
              </a:rPr>
              <a:t>Model Development — Three Iterations</a:t>
            </a:r>
            <a:endParaRPr lang="en-US" sz="2000" dirty="0"/>
          </a:p>
        </p:txBody>
      </p:sp>
      <p:sp>
        <p:nvSpPr>
          <p:cNvPr id="4" name="Shape 2"/>
          <p:cNvSpPr/>
          <p:nvPr/>
        </p:nvSpPr>
        <p:spPr>
          <a:xfrm>
            <a:off x="274320" y="777240"/>
            <a:ext cx="2697480" cy="3749040"/>
          </a:xfrm>
          <a:prstGeom prst="rect">
            <a:avLst/>
          </a:prstGeom>
          <a:solidFill>
            <a:srgbClr val="F7F7F7"/>
          </a:solidFill>
          <a:ln w="12700">
            <a:solidFill>
              <a:srgbClr val="D8DEE4"/>
            </a:solidFill>
            <a:prstDash val="solid"/>
          </a:ln>
        </p:spPr>
      </p:sp>
      <p:sp>
        <p:nvSpPr>
          <p:cNvPr id="5" name="Shape 3"/>
          <p:cNvSpPr/>
          <p:nvPr/>
        </p:nvSpPr>
        <p:spPr>
          <a:xfrm>
            <a:off x="274320" y="4114800"/>
            <a:ext cx="2697480" cy="411480"/>
          </a:xfrm>
          <a:prstGeom prst="rect">
            <a:avLst/>
          </a:prstGeom>
          <a:solidFill>
            <a:srgbClr val="C0392B"/>
          </a:solidFill>
          <a:ln w="12700">
            <a:solidFill>
              <a:srgbClr val="C0392B"/>
            </a:solidFill>
            <a:prstDash val="solid"/>
          </a:ln>
        </p:spPr>
      </p:sp>
      <p:sp>
        <p:nvSpPr>
          <p:cNvPr id="6" name="Text 4"/>
          <p:cNvSpPr/>
          <p:nvPr/>
        </p:nvSpPr>
        <p:spPr>
          <a:xfrm>
            <a:off x="347472" y="4114800"/>
            <a:ext cx="2551176" cy="41148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Insufficient</a:t>
            </a:r>
            <a:endParaRPr lang="en-US" sz="1100" dirty="0"/>
          </a:p>
        </p:txBody>
      </p:sp>
      <p:sp>
        <p:nvSpPr>
          <p:cNvPr id="7" name="Text 5"/>
          <p:cNvSpPr/>
          <p:nvPr/>
        </p:nvSpPr>
        <p:spPr>
          <a:xfrm>
            <a:off x="384048" y="868680"/>
            <a:ext cx="2468880" cy="320040"/>
          </a:xfrm>
          <a:prstGeom prst="rect">
            <a:avLst/>
          </a:prstGeom>
          <a:noFill/>
          <a:ln/>
        </p:spPr>
        <p:txBody>
          <a:bodyPr wrap="square" lIns="0" tIns="0" rIns="0" bIns="0" rtlCol="0" anchor="ctr"/>
          <a:lstStyle/>
          <a:p>
            <a:pPr marL="0" indent="0">
              <a:buNone/>
            </a:pPr>
            <a:r>
              <a:rPr lang="en-US" sz="1300" b="1" dirty="0">
                <a:solidFill>
                  <a:srgbClr val="4A90D9"/>
                </a:solidFill>
                <a:latin typeface="Georgia" pitchFamily="34" charset="0"/>
                <a:ea typeface="Georgia" pitchFamily="34" charset="-122"/>
                <a:cs typeface="Georgia" pitchFamily="34" charset="-120"/>
              </a:rPr>
              <a:t>Iteration 1</a:t>
            </a:r>
            <a:endParaRPr lang="en-US" sz="1300" dirty="0"/>
          </a:p>
        </p:txBody>
      </p:sp>
      <p:sp>
        <p:nvSpPr>
          <p:cNvPr id="8" name="Text 6"/>
          <p:cNvSpPr/>
          <p:nvPr/>
        </p:nvSpPr>
        <p:spPr>
          <a:xfrm>
            <a:off x="384048" y="1188720"/>
            <a:ext cx="2468880" cy="256032"/>
          </a:xfrm>
          <a:prstGeom prst="rect">
            <a:avLst/>
          </a:prstGeom>
          <a:noFill/>
          <a:ln/>
        </p:spPr>
        <p:txBody>
          <a:bodyPr wrap="square" lIns="0" tIns="0" rIns="0" bIns="0" rtlCol="0" anchor="ctr"/>
          <a:lstStyle/>
          <a:p>
            <a:pPr marL="0" indent="0">
              <a:buNone/>
            </a:pPr>
            <a:r>
              <a:rPr lang="en-US" sz="1000" dirty="0">
                <a:solidFill>
                  <a:srgbClr val="8A9BB0"/>
                </a:solidFill>
                <a:latin typeface="Calibri" pitchFamily="34" charset="0"/>
                <a:ea typeface="Calibri" pitchFamily="34" charset="-122"/>
                <a:cs typeface="Calibri" pitchFamily="34" charset="-120"/>
              </a:rPr>
              <a:t>28 Feb 2026</a:t>
            </a:r>
            <a:endParaRPr lang="en-US" sz="1000" dirty="0"/>
          </a:p>
        </p:txBody>
      </p:sp>
      <p:sp>
        <p:nvSpPr>
          <p:cNvPr id="9" name="Text 7"/>
          <p:cNvSpPr/>
          <p:nvPr/>
        </p:nvSpPr>
        <p:spPr>
          <a:xfrm>
            <a:off x="384048" y="1481328"/>
            <a:ext cx="2468880" cy="320040"/>
          </a:xfrm>
          <a:prstGeom prst="rect">
            <a:avLst/>
          </a:prstGeom>
          <a:noFill/>
          <a:ln/>
        </p:spPr>
        <p:txBody>
          <a:bodyPr wrap="square" lIns="0" tIns="0" rIns="0" bIns="0" rtlCol="0" anchor="ctr"/>
          <a:lstStyle/>
          <a:p>
            <a:pPr marL="0" indent="0">
              <a:buNone/>
            </a:pPr>
            <a:r>
              <a:rPr lang="en-US" sz="1200" dirty="0">
                <a:solidFill>
                  <a:srgbClr val="1A1A2E"/>
                </a:solidFill>
                <a:latin typeface="Georgia" pitchFamily="34" charset="0"/>
                <a:ea typeface="Georgia" pitchFamily="34" charset="-122"/>
                <a:cs typeface="Georgia" pitchFamily="34" charset="-120"/>
              </a:rPr>
              <a:t>XGBoost Baseline</a:t>
            </a:r>
            <a:endParaRPr lang="en-US" sz="1200" dirty="0"/>
          </a:p>
        </p:txBody>
      </p:sp>
      <p:sp>
        <p:nvSpPr>
          <p:cNvPr id="10" name="Shape 8"/>
          <p:cNvSpPr/>
          <p:nvPr/>
        </p:nvSpPr>
        <p:spPr>
          <a:xfrm>
            <a:off x="384048" y="1874520"/>
            <a:ext cx="2377440" cy="18288"/>
          </a:xfrm>
          <a:prstGeom prst="rect">
            <a:avLst/>
          </a:prstGeom>
          <a:solidFill>
            <a:srgbClr val="D8DEE4"/>
          </a:solidFill>
          <a:ln w="12700">
            <a:solidFill>
              <a:srgbClr val="D8DEE4"/>
            </a:solidFill>
            <a:prstDash val="solid"/>
          </a:ln>
        </p:spPr>
      </p:sp>
      <p:sp>
        <p:nvSpPr>
          <p:cNvPr id="11" name="Text 9"/>
          <p:cNvSpPr/>
          <p:nvPr/>
        </p:nvSpPr>
        <p:spPr>
          <a:xfrm>
            <a:off x="384048" y="1965960"/>
            <a:ext cx="2468880" cy="2011680"/>
          </a:xfrm>
          <a:prstGeom prst="rect">
            <a:avLst/>
          </a:prstGeom>
          <a:noFill/>
          <a:ln/>
        </p:spPr>
        <p:txBody>
          <a:bodyPr wrap="square" lIns="0" tIns="0" rIns="0" bIns="0" rtlCol="0" anchor="ctr"/>
          <a:lstStyle/>
          <a:p>
            <a:pPr marL="0" indent="0">
              <a:buNone/>
            </a:pPr>
            <a:r>
              <a:rPr lang="en-US" sz="1100" dirty="0">
                <a:solidFill>
                  <a:srgbClr val="36454F"/>
                </a:solidFill>
                <a:latin typeface="Calibri" pitchFamily="34" charset="0"/>
                <a:ea typeface="Calibri" pitchFamily="34" charset="-122"/>
                <a:cs typeface="Calibri" pitchFamily="34" charset="-120"/>
              </a:rPr>
              <a:t>Handcrafted NLP features only. TA &amp; CC reached R² ≈ 0.60, but Grammar scored R² = 0.29. Semantic understanding missing.</a:t>
            </a:r>
            <a:endParaRPr lang="en-US" sz="1100" dirty="0"/>
          </a:p>
        </p:txBody>
      </p:sp>
      <p:sp>
        <p:nvSpPr>
          <p:cNvPr id="12" name="Shape 10"/>
          <p:cNvSpPr/>
          <p:nvPr/>
        </p:nvSpPr>
        <p:spPr>
          <a:xfrm>
            <a:off x="3154680" y="777240"/>
            <a:ext cx="2697480" cy="3749040"/>
          </a:xfrm>
          <a:prstGeom prst="rect">
            <a:avLst/>
          </a:prstGeom>
          <a:solidFill>
            <a:srgbClr val="F7F7F7"/>
          </a:solidFill>
          <a:ln w="12700">
            <a:solidFill>
              <a:srgbClr val="D8DEE4"/>
            </a:solidFill>
            <a:prstDash val="solid"/>
          </a:ln>
        </p:spPr>
      </p:sp>
      <p:sp>
        <p:nvSpPr>
          <p:cNvPr id="13" name="Shape 11"/>
          <p:cNvSpPr/>
          <p:nvPr/>
        </p:nvSpPr>
        <p:spPr>
          <a:xfrm>
            <a:off x="3154680" y="4114800"/>
            <a:ext cx="2697480" cy="411480"/>
          </a:xfrm>
          <a:prstGeom prst="rect">
            <a:avLst/>
          </a:prstGeom>
          <a:solidFill>
            <a:srgbClr val="C0392B"/>
          </a:solidFill>
          <a:ln w="12700">
            <a:solidFill>
              <a:srgbClr val="C0392B"/>
            </a:solidFill>
            <a:prstDash val="solid"/>
          </a:ln>
        </p:spPr>
      </p:sp>
      <p:sp>
        <p:nvSpPr>
          <p:cNvPr id="14" name="Text 12"/>
          <p:cNvSpPr/>
          <p:nvPr/>
        </p:nvSpPr>
        <p:spPr>
          <a:xfrm>
            <a:off x="3227832" y="4114800"/>
            <a:ext cx="2551176" cy="41148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Stacking Leakage</a:t>
            </a:r>
            <a:endParaRPr lang="en-US" sz="1100" dirty="0"/>
          </a:p>
        </p:txBody>
      </p:sp>
      <p:sp>
        <p:nvSpPr>
          <p:cNvPr id="15" name="Text 13"/>
          <p:cNvSpPr/>
          <p:nvPr/>
        </p:nvSpPr>
        <p:spPr>
          <a:xfrm>
            <a:off x="3264408" y="868680"/>
            <a:ext cx="2468880" cy="320040"/>
          </a:xfrm>
          <a:prstGeom prst="rect">
            <a:avLst/>
          </a:prstGeom>
          <a:noFill/>
          <a:ln/>
        </p:spPr>
        <p:txBody>
          <a:bodyPr wrap="square" lIns="0" tIns="0" rIns="0" bIns="0" rtlCol="0" anchor="ctr"/>
          <a:lstStyle/>
          <a:p>
            <a:pPr marL="0" indent="0">
              <a:buNone/>
            </a:pPr>
            <a:r>
              <a:rPr lang="en-US" sz="1300" b="1" dirty="0">
                <a:solidFill>
                  <a:srgbClr val="4A90D9"/>
                </a:solidFill>
                <a:latin typeface="Georgia" pitchFamily="34" charset="0"/>
                <a:ea typeface="Georgia" pitchFamily="34" charset="-122"/>
                <a:cs typeface="Georgia" pitchFamily="34" charset="-120"/>
              </a:rPr>
              <a:t>Iteration 2</a:t>
            </a:r>
            <a:endParaRPr lang="en-US" sz="1300" dirty="0"/>
          </a:p>
        </p:txBody>
      </p:sp>
      <p:sp>
        <p:nvSpPr>
          <p:cNvPr id="16" name="Text 14"/>
          <p:cNvSpPr/>
          <p:nvPr/>
        </p:nvSpPr>
        <p:spPr>
          <a:xfrm>
            <a:off x="3264408" y="1188720"/>
            <a:ext cx="2468880" cy="256032"/>
          </a:xfrm>
          <a:prstGeom prst="rect">
            <a:avLst/>
          </a:prstGeom>
          <a:noFill/>
          <a:ln/>
        </p:spPr>
        <p:txBody>
          <a:bodyPr wrap="square" lIns="0" tIns="0" rIns="0" bIns="0" rtlCol="0" anchor="ctr"/>
          <a:lstStyle/>
          <a:p>
            <a:pPr marL="0" indent="0">
              <a:buNone/>
            </a:pPr>
            <a:r>
              <a:rPr lang="en-US" sz="1000" dirty="0">
                <a:solidFill>
                  <a:srgbClr val="8A9BB0"/>
                </a:solidFill>
                <a:latin typeface="Calibri" pitchFamily="34" charset="0"/>
                <a:ea typeface="Calibri" pitchFamily="34" charset="-122"/>
                <a:cs typeface="Calibri" pitchFamily="34" charset="-120"/>
              </a:rPr>
              <a:t>3 Mar 2026</a:t>
            </a:r>
            <a:endParaRPr lang="en-US" sz="1000" dirty="0"/>
          </a:p>
        </p:txBody>
      </p:sp>
      <p:sp>
        <p:nvSpPr>
          <p:cNvPr id="17" name="Text 15"/>
          <p:cNvSpPr/>
          <p:nvPr/>
        </p:nvSpPr>
        <p:spPr>
          <a:xfrm>
            <a:off x="3264408" y="1481328"/>
            <a:ext cx="2468880" cy="320040"/>
          </a:xfrm>
          <a:prstGeom prst="rect">
            <a:avLst/>
          </a:prstGeom>
          <a:noFill/>
          <a:ln/>
        </p:spPr>
        <p:txBody>
          <a:bodyPr wrap="square" lIns="0" tIns="0" rIns="0" bIns="0" rtlCol="0" anchor="ctr"/>
          <a:lstStyle/>
          <a:p>
            <a:pPr marL="0" indent="0">
              <a:buNone/>
            </a:pPr>
            <a:r>
              <a:rPr lang="en-US" sz="1200" dirty="0">
                <a:solidFill>
                  <a:srgbClr val="1A1A2E"/>
                </a:solidFill>
                <a:latin typeface="Georgia" pitchFamily="34" charset="0"/>
                <a:ea typeface="Georgia" pitchFamily="34" charset="-122"/>
                <a:cs typeface="Georgia" pitchFamily="34" charset="-120"/>
              </a:rPr>
              <a:t>BERT Multi-Task NN</a:t>
            </a:r>
            <a:endParaRPr lang="en-US" sz="1200" dirty="0"/>
          </a:p>
        </p:txBody>
      </p:sp>
      <p:sp>
        <p:nvSpPr>
          <p:cNvPr id="18" name="Shape 16"/>
          <p:cNvSpPr/>
          <p:nvPr/>
        </p:nvSpPr>
        <p:spPr>
          <a:xfrm>
            <a:off x="3264408" y="1874520"/>
            <a:ext cx="2377440" cy="18288"/>
          </a:xfrm>
          <a:prstGeom prst="rect">
            <a:avLst/>
          </a:prstGeom>
          <a:solidFill>
            <a:srgbClr val="D8DEE4"/>
          </a:solidFill>
          <a:ln w="12700">
            <a:solidFill>
              <a:srgbClr val="D8DEE4"/>
            </a:solidFill>
            <a:prstDash val="solid"/>
          </a:ln>
        </p:spPr>
      </p:sp>
      <p:sp>
        <p:nvSpPr>
          <p:cNvPr id="19" name="Text 17"/>
          <p:cNvSpPr/>
          <p:nvPr/>
        </p:nvSpPr>
        <p:spPr>
          <a:xfrm>
            <a:off x="3264408" y="1965960"/>
            <a:ext cx="2468880" cy="2011680"/>
          </a:xfrm>
          <a:prstGeom prst="rect">
            <a:avLst/>
          </a:prstGeom>
          <a:noFill/>
          <a:ln/>
        </p:spPr>
        <p:txBody>
          <a:bodyPr wrap="square" lIns="0" tIns="0" rIns="0" bIns="0" rtlCol="0" anchor="ctr"/>
          <a:lstStyle/>
          <a:p>
            <a:pPr marL="0" indent="0">
              <a:buNone/>
            </a:pPr>
            <a:r>
              <a:rPr lang="en-US" sz="1100" dirty="0">
                <a:solidFill>
                  <a:srgbClr val="36454F"/>
                </a:solidFill>
                <a:latin typeface="Calibri" pitchFamily="34" charset="0"/>
                <a:ea typeface="Calibri" pitchFamily="34" charset="-122"/>
                <a:cs typeface="Calibri" pitchFamily="34" charset="-120"/>
              </a:rPr>
              <a:t>PyTorch IELTSMultiTaskModel with shared BERT encoder + 4 prediction heads. Negative R² across all criteria.</a:t>
            </a:r>
            <a:endParaRPr lang="en-US" sz="1100" dirty="0"/>
          </a:p>
        </p:txBody>
      </p:sp>
      <p:sp>
        <p:nvSpPr>
          <p:cNvPr id="20" name="Shape 18"/>
          <p:cNvSpPr/>
          <p:nvPr/>
        </p:nvSpPr>
        <p:spPr>
          <a:xfrm>
            <a:off x="6035040" y="777240"/>
            <a:ext cx="2697480" cy="3749040"/>
          </a:xfrm>
          <a:prstGeom prst="rect">
            <a:avLst/>
          </a:prstGeom>
          <a:solidFill>
            <a:srgbClr val="F7F7F7"/>
          </a:solidFill>
          <a:ln w="12700">
            <a:solidFill>
              <a:srgbClr val="D8DEE4"/>
            </a:solidFill>
            <a:prstDash val="solid"/>
          </a:ln>
        </p:spPr>
      </p:sp>
      <p:sp>
        <p:nvSpPr>
          <p:cNvPr id="21" name="Shape 19"/>
          <p:cNvSpPr/>
          <p:nvPr/>
        </p:nvSpPr>
        <p:spPr>
          <a:xfrm>
            <a:off x="6035040" y="4114800"/>
            <a:ext cx="2697480" cy="411480"/>
          </a:xfrm>
          <a:prstGeom prst="rect">
            <a:avLst/>
          </a:prstGeom>
          <a:solidFill>
            <a:srgbClr val="27AE60"/>
          </a:solidFill>
          <a:ln w="12700">
            <a:solidFill>
              <a:srgbClr val="27AE60"/>
            </a:solidFill>
            <a:prstDash val="solid"/>
          </a:ln>
        </p:spPr>
      </p:sp>
      <p:sp>
        <p:nvSpPr>
          <p:cNvPr id="22" name="Text 20"/>
          <p:cNvSpPr/>
          <p:nvPr/>
        </p:nvSpPr>
        <p:spPr>
          <a:xfrm>
            <a:off x="6108192" y="4114800"/>
            <a:ext cx="2551176" cy="41148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Almost Production…</a:t>
            </a:r>
            <a:endParaRPr lang="en-US" sz="1100" dirty="0"/>
          </a:p>
        </p:txBody>
      </p:sp>
      <p:sp>
        <p:nvSpPr>
          <p:cNvPr id="23" name="Text 21"/>
          <p:cNvSpPr/>
          <p:nvPr/>
        </p:nvSpPr>
        <p:spPr>
          <a:xfrm>
            <a:off x="6144768" y="868680"/>
            <a:ext cx="2468880" cy="320040"/>
          </a:xfrm>
          <a:prstGeom prst="rect">
            <a:avLst/>
          </a:prstGeom>
          <a:noFill/>
          <a:ln/>
        </p:spPr>
        <p:txBody>
          <a:bodyPr wrap="square" lIns="0" tIns="0" rIns="0" bIns="0" rtlCol="0" anchor="ctr"/>
          <a:lstStyle/>
          <a:p>
            <a:pPr marL="0" indent="0">
              <a:buNone/>
            </a:pPr>
            <a:r>
              <a:rPr lang="en-US" sz="1300" b="1" dirty="0">
                <a:solidFill>
                  <a:srgbClr val="4A90D9"/>
                </a:solidFill>
                <a:latin typeface="Georgia" pitchFamily="34" charset="0"/>
                <a:ea typeface="Georgia" pitchFamily="34" charset="-122"/>
                <a:cs typeface="Georgia" pitchFamily="34" charset="-120"/>
              </a:rPr>
              <a:t>Iteration 3</a:t>
            </a:r>
            <a:endParaRPr lang="en-US" sz="1300" dirty="0"/>
          </a:p>
        </p:txBody>
      </p:sp>
      <p:sp>
        <p:nvSpPr>
          <p:cNvPr id="24" name="Text 22"/>
          <p:cNvSpPr/>
          <p:nvPr/>
        </p:nvSpPr>
        <p:spPr>
          <a:xfrm>
            <a:off x="6144768" y="1188720"/>
            <a:ext cx="2468880" cy="256032"/>
          </a:xfrm>
          <a:prstGeom prst="rect">
            <a:avLst/>
          </a:prstGeom>
          <a:noFill/>
          <a:ln/>
        </p:spPr>
        <p:txBody>
          <a:bodyPr wrap="square" lIns="0" tIns="0" rIns="0" bIns="0" rtlCol="0" anchor="ctr"/>
          <a:lstStyle/>
          <a:p>
            <a:pPr marL="0" indent="0">
              <a:buNone/>
            </a:pPr>
            <a:r>
              <a:rPr lang="en-US" sz="1000" dirty="0">
                <a:solidFill>
                  <a:srgbClr val="8A9BB0"/>
                </a:solidFill>
                <a:latin typeface="Calibri" pitchFamily="34" charset="0"/>
                <a:ea typeface="Calibri" pitchFamily="34" charset="-122"/>
                <a:cs typeface="Calibri" pitchFamily="34" charset="-120"/>
              </a:rPr>
              <a:t>12 Mar 2026</a:t>
            </a:r>
            <a:endParaRPr lang="en-US" sz="1000" dirty="0"/>
          </a:p>
        </p:txBody>
      </p:sp>
      <p:sp>
        <p:nvSpPr>
          <p:cNvPr id="25" name="Text 23"/>
          <p:cNvSpPr/>
          <p:nvPr/>
        </p:nvSpPr>
        <p:spPr>
          <a:xfrm>
            <a:off x="6144768" y="1481328"/>
            <a:ext cx="2468880" cy="320040"/>
          </a:xfrm>
          <a:prstGeom prst="rect">
            <a:avLst/>
          </a:prstGeom>
          <a:noFill/>
          <a:ln/>
        </p:spPr>
        <p:txBody>
          <a:bodyPr wrap="square" lIns="0" tIns="0" rIns="0" bIns="0" rtlCol="0" anchor="ctr"/>
          <a:lstStyle/>
          <a:p>
            <a:pPr marL="0" indent="0">
              <a:buNone/>
            </a:pPr>
            <a:r>
              <a:rPr lang="en-US" sz="1200" dirty="0">
                <a:solidFill>
                  <a:srgbClr val="1A1A2E"/>
                </a:solidFill>
                <a:latin typeface="Georgia" pitchFamily="34" charset="0"/>
                <a:ea typeface="Georgia" pitchFamily="34" charset="-122"/>
                <a:cs typeface="Georgia" pitchFamily="34" charset="-120"/>
              </a:rPr>
              <a:t>Three-Stage Ensemble</a:t>
            </a:r>
            <a:endParaRPr lang="en-US" sz="1200" dirty="0"/>
          </a:p>
        </p:txBody>
      </p:sp>
      <p:sp>
        <p:nvSpPr>
          <p:cNvPr id="26" name="Shape 24"/>
          <p:cNvSpPr/>
          <p:nvPr/>
        </p:nvSpPr>
        <p:spPr>
          <a:xfrm>
            <a:off x="6144768" y="1874520"/>
            <a:ext cx="2377440" cy="18288"/>
          </a:xfrm>
          <a:prstGeom prst="rect">
            <a:avLst/>
          </a:prstGeom>
          <a:solidFill>
            <a:srgbClr val="D8DEE4"/>
          </a:solidFill>
          <a:ln w="12700">
            <a:solidFill>
              <a:srgbClr val="D8DEE4"/>
            </a:solidFill>
            <a:prstDash val="solid"/>
          </a:ln>
        </p:spPr>
      </p:sp>
      <p:sp>
        <p:nvSpPr>
          <p:cNvPr id="27" name="Text 25"/>
          <p:cNvSpPr/>
          <p:nvPr/>
        </p:nvSpPr>
        <p:spPr>
          <a:xfrm>
            <a:off x="6144768" y="1965960"/>
            <a:ext cx="2468880" cy="2011680"/>
          </a:xfrm>
          <a:prstGeom prst="rect">
            <a:avLst/>
          </a:prstGeom>
          <a:noFill/>
          <a:ln/>
        </p:spPr>
        <p:txBody>
          <a:bodyPr wrap="square" lIns="0" tIns="0" rIns="0" bIns="0" rtlCol="0" anchor="ctr"/>
          <a:lstStyle/>
          <a:p>
            <a:pPr marL="0" indent="0">
              <a:buNone/>
            </a:pPr>
            <a:r>
              <a:rPr lang="en-US" sz="1100" dirty="0">
                <a:solidFill>
                  <a:srgbClr val="36454F"/>
                </a:solidFill>
                <a:latin typeface="Calibri" pitchFamily="34" charset="0"/>
                <a:ea typeface="Calibri" pitchFamily="34" charset="-122"/>
                <a:cs typeface="Calibri" pitchFamily="34" charset="-120"/>
              </a:rPr>
              <a:t>Corrected leakage (?). BERT+XGBoost hybrid + Qwen3-VL-8B LLM adjudicator with criterion-specific weights.</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A1A2E"/>
          </a:solidFill>
          <a:ln w="12700">
            <a:solidFill>
              <a:srgbClr val="1A1A2E"/>
            </a:solidFill>
            <a:prstDash val="solid"/>
          </a:ln>
        </p:spPr>
      </p:sp>
      <p:sp>
        <p:nvSpPr>
          <p:cNvPr id="3" name="Text 1"/>
          <p:cNvSpPr/>
          <p:nvPr/>
        </p:nvSpPr>
        <p:spPr>
          <a:xfrm>
            <a:off x="457200" y="0"/>
            <a:ext cx="8229600" cy="640080"/>
          </a:xfrm>
          <a:prstGeom prst="rect">
            <a:avLst/>
          </a:prstGeom>
          <a:noFill/>
          <a:ln/>
        </p:spPr>
        <p:txBody>
          <a:bodyPr wrap="square" lIns="0" tIns="0" rIns="0" bIns="0" rtlCol="0" anchor="ctr"/>
          <a:lstStyle/>
          <a:p>
            <a:pPr marL="0" indent="0">
              <a:buNone/>
            </a:pPr>
            <a:r>
              <a:rPr lang="en-US" sz="2000" b="1" dirty="0">
                <a:solidFill>
                  <a:srgbClr val="FFFFFF"/>
                </a:solidFill>
                <a:latin typeface="Georgia" pitchFamily="34" charset="0"/>
                <a:ea typeface="Georgia" pitchFamily="34" charset="-122"/>
                <a:cs typeface="Georgia" pitchFamily="34" charset="-120"/>
              </a:rPr>
              <a:t>Iteration 3 — Final Model Performance</a:t>
            </a:r>
            <a:endParaRPr lang="en-US" sz="2000" dirty="0"/>
          </a:p>
        </p:txBody>
      </p:sp>
      <p:sp>
        <p:nvSpPr>
          <p:cNvPr id="4" name="Text 2"/>
          <p:cNvSpPr/>
          <p:nvPr/>
        </p:nvSpPr>
        <p:spPr>
          <a:xfrm>
            <a:off x="320040" y="749808"/>
            <a:ext cx="4023360" cy="320040"/>
          </a:xfrm>
          <a:prstGeom prst="rect">
            <a:avLst/>
          </a:prstGeom>
          <a:noFill/>
          <a:ln/>
        </p:spPr>
        <p:txBody>
          <a:bodyPr wrap="square" lIns="0" tIns="0" rIns="0" bIns="0" rtlCol="0" anchor="ctr"/>
          <a:lstStyle/>
          <a:p>
            <a:pPr marL="0" indent="0">
              <a:buNone/>
            </a:pPr>
            <a:r>
              <a:rPr lang="en-US" sz="1300" b="1" dirty="0">
                <a:solidFill>
                  <a:srgbClr val="1A1A2E"/>
                </a:solidFill>
                <a:latin typeface="Georgia" pitchFamily="34" charset="0"/>
                <a:ea typeface="Georgia" pitchFamily="34" charset="-122"/>
                <a:cs typeface="Georgia" pitchFamily="34" charset="-120"/>
              </a:rPr>
              <a:t>Ensemble Weights</a:t>
            </a:r>
            <a:endParaRPr lang="en-US" sz="13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320040" y="1115568"/>
          <a:ext cx="4114800" cy="1956816"/>
        </p:xfrm>
        <a:graphic>
          <a:graphicData uri="http://schemas.openxmlformats.org/drawingml/2006/table">
            <a:tbl>
              <a:tblPr/>
              <a:tblGrid>
                <a:gridCol w="1508760">
                  <a:extLst>
                    <a:ext uri="{9D8B030D-6E8A-4147-A177-3AD203B41FA5}">
                      <a16:colId xmlns:a16="http://schemas.microsoft.com/office/drawing/2014/main" val="20000"/>
                    </a:ext>
                  </a:extLst>
                </a:gridCol>
                <a:gridCol w="658368">
                  <a:extLst>
                    <a:ext uri="{9D8B030D-6E8A-4147-A177-3AD203B41FA5}">
                      <a16:colId xmlns:a16="http://schemas.microsoft.com/office/drawing/2014/main" val="20001"/>
                    </a:ext>
                  </a:extLst>
                </a:gridCol>
                <a:gridCol w="576072">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tblGrid>
              <a:tr h="384048">
                <a:tc>
                  <a:txBody>
                    <a:bodyPr/>
                    <a:lstStyle/>
                    <a:p>
                      <a:pPr marL="0" indent="0">
                        <a:buNone/>
                      </a:pPr>
                      <a:r>
                        <a:rPr lang="en-US" sz="1100" b="1" dirty="0">
                          <a:solidFill>
                            <a:srgbClr val="FFFFFF"/>
                          </a:solidFill>
                        </a:rPr>
                        <a:t>Criterion</a:t>
                      </a:r>
                      <a:endParaRPr lang="en-US" sz="1100" dirty="0"/>
                    </a:p>
                  </a:txBody>
                  <a:tcPr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solidFill>
                      <a:srgbClr val="36454F"/>
                    </a:solidFill>
                  </a:tcPr>
                </a:tc>
                <a:tc>
                  <a:txBody>
                    <a:bodyPr/>
                    <a:lstStyle/>
                    <a:p>
                      <a:pPr marL="0" indent="0">
                        <a:buNone/>
                      </a:pPr>
                      <a:r>
                        <a:rPr lang="en-US" sz="1100" b="1" dirty="0">
                          <a:solidFill>
                            <a:srgbClr val="FFFFFF"/>
                          </a:solidFill>
                        </a:rPr>
                        <a:t>Hybrid</a:t>
                      </a:r>
                      <a:endParaRPr lang="en-US" sz="1100" dirty="0"/>
                    </a:p>
                  </a:txBody>
                  <a:tcPr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solidFill>
                      <a:srgbClr val="36454F"/>
                    </a:solidFill>
                  </a:tcPr>
                </a:tc>
                <a:tc>
                  <a:txBody>
                    <a:bodyPr/>
                    <a:lstStyle/>
                    <a:p>
                      <a:pPr marL="0" indent="0">
                        <a:buNone/>
                      </a:pPr>
                      <a:r>
                        <a:rPr lang="en-US" sz="1100" b="1" dirty="0">
                          <a:solidFill>
                            <a:srgbClr val="FFFFFF"/>
                          </a:solidFill>
                        </a:rPr>
                        <a:t>LLM</a:t>
                      </a:r>
                      <a:endParaRPr lang="en-US" sz="1100" dirty="0"/>
                    </a:p>
                  </a:txBody>
                  <a:tcPr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solidFill>
                      <a:srgbClr val="36454F"/>
                    </a:solidFill>
                  </a:tcPr>
                </a:tc>
                <a:tc>
                  <a:txBody>
                    <a:bodyPr/>
                    <a:lstStyle/>
                    <a:p>
                      <a:pPr marL="0" indent="0">
                        <a:buNone/>
                      </a:pPr>
                      <a:r>
                        <a:rPr lang="en-US" sz="1100" b="1" dirty="0">
                          <a:solidFill>
                            <a:srgbClr val="FFFFFF"/>
                          </a:solidFill>
                        </a:rPr>
                        <a:t>Rationale</a:t>
                      </a:r>
                      <a:endParaRPr lang="en-US" sz="1100" dirty="0"/>
                    </a:p>
                  </a:txBody>
                  <a:tcPr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solidFill>
                      <a:srgbClr val="36454F"/>
                    </a:solidFill>
                  </a:tcPr>
                </a:tc>
                <a:extLst>
                  <a:ext uri="{0D108BD9-81ED-4DB2-BD59-A6C34878D82A}">
                    <a16:rowId xmlns:a16="http://schemas.microsoft.com/office/drawing/2014/main" val="10000"/>
                  </a:ext>
                </a:extLst>
              </a:tr>
              <a:tr h="384048">
                <a:tc>
                  <a:txBody>
                    <a:bodyPr/>
                    <a:lstStyle/>
                    <a:p>
                      <a:pPr marL="0" indent="0">
                        <a:buNone/>
                      </a:pPr>
                      <a:r>
                        <a:rPr lang="en-US" sz="1000" dirty="0">
                          <a:solidFill>
                            <a:srgbClr val="1A1A2E"/>
                          </a:solidFill>
                        </a:rPr>
                        <a:t>Task Achievement</a:t>
                      </a:r>
                      <a:endParaRPr lang="en-US" sz="1000" dirty="0"/>
                    </a:p>
                  </a:txBody>
                  <a:tcPr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solidFill>
                      <a:srgbClr val="FFFFFF"/>
                    </a:solidFill>
                  </a:tcPr>
                </a:tc>
                <a:tc>
                  <a:txBody>
                    <a:bodyPr/>
                    <a:lstStyle/>
                    <a:p>
                      <a:pPr marL="0" indent="0">
                        <a:buNone/>
                      </a:pPr>
                      <a:r>
                        <a:rPr lang="en-US" sz="1000" dirty="0">
                          <a:solidFill>
                            <a:srgbClr val="1A1A2E"/>
                          </a:solidFill>
                        </a:rPr>
                        <a:t>30%</a:t>
                      </a:r>
                      <a:endParaRPr lang="en-US" sz="1000" dirty="0"/>
                    </a:p>
                  </a:txBody>
                  <a:tcPr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solidFill>
                      <a:srgbClr val="FFFFFF"/>
                    </a:solidFill>
                  </a:tcPr>
                </a:tc>
                <a:tc>
                  <a:txBody>
                    <a:bodyPr/>
                    <a:lstStyle/>
                    <a:p>
                      <a:pPr marL="0" indent="0">
                        <a:buNone/>
                      </a:pPr>
                      <a:r>
                        <a:rPr lang="en-US" sz="1000" dirty="0">
                          <a:solidFill>
                            <a:srgbClr val="1A1A2E"/>
                          </a:solidFill>
                        </a:rPr>
                        <a:t>70%</a:t>
                      </a:r>
                      <a:endParaRPr lang="en-US" sz="1000" dirty="0"/>
                    </a:p>
                  </a:txBody>
                  <a:tcPr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solidFill>
                      <a:srgbClr val="FFFFFF"/>
                    </a:solidFill>
                  </a:tcPr>
                </a:tc>
                <a:tc>
                  <a:txBody>
                    <a:bodyPr/>
                    <a:lstStyle/>
                    <a:p>
                      <a:pPr marL="0" indent="0">
                        <a:buNone/>
                      </a:pPr>
                      <a:r>
                        <a:rPr lang="en-US" sz="1000" dirty="0">
                          <a:solidFill>
                            <a:srgbClr val="1A1A2E"/>
                          </a:solidFill>
                        </a:rPr>
                        <a:t>LLM: semantic meaning</a:t>
                      </a:r>
                      <a:endParaRPr lang="en-US" sz="1000" dirty="0"/>
                    </a:p>
                  </a:txBody>
                  <a:tcPr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buNone/>
                      </a:pPr>
                      <a:r>
                        <a:rPr lang="en-US" sz="1000" dirty="0">
                          <a:solidFill>
                            <a:srgbClr val="1A1A2E"/>
                          </a:solidFill>
                        </a:rPr>
                        <a:t>Coherence &amp; Cohesion</a:t>
                      </a:r>
                      <a:endParaRPr lang="en-US" sz="1000" dirty="0"/>
                    </a:p>
                  </a:txBody>
                  <a:tcPr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solidFill>
                      <a:srgbClr val="F7F7F7"/>
                    </a:solidFill>
                  </a:tcPr>
                </a:tc>
                <a:tc>
                  <a:txBody>
                    <a:bodyPr/>
                    <a:lstStyle/>
                    <a:p>
                      <a:pPr marL="0" indent="0">
                        <a:buNone/>
                      </a:pPr>
                      <a:r>
                        <a:rPr lang="en-US" sz="1000" dirty="0">
                          <a:solidFill>
                            <a:srgbClr val="1A1A2E"/>
                          </a:solidFill>
                        </a:rPr>
                        <a:t>40%</a:t>
                      </a:r>
                      <a:endParaRPr lang="en-US" sz="1000" dirty="0"/>
                    </a:p>
                  </a:txBody>
                  <a:tcPr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solidFill>
                      <a:srgbClr val="F7F7F7"/>
                    </a:solidFill>
                  </a:tcPr>
                </a:tc>
                <a:tc>
                  <a:txBody>
                    <a:bodyPr/>
                    <a:lstStyle/>
                    <a:p>
                      <a:pPr marL="0" indent="0">
                        <a:buNone/>
                      </a:pPr>
                      <a:r>
                        <a:rPr lang="en-US" sz="1000" dirty="0">
                          <a:solidFill>
                            <a:srgbClr val="1A1A2E"/>
                          </a:solidFill>
                        </a:rPr>
                        <a:t>60%</a:t>
                      </a:r>
                      <a:endParaRPr lang="en-US" sz="1000" dirty="0"/>
                    </a:p>
                  </a:txBody>
                  <a:tcPr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solidFill>
                      <a:srgbClr val="F7F7F7"/>
                    </a:solidFill>
                  </a:tcPr>
                </a:tc>
                <a:tc>
                  <a:txBody>
                    <a:bodyPr/>
                    <a:lstStyle/>
                    <a:p>
                      <a:pPr marL="0" indent="0">
                        <a:buNone/>
                      </a:pPr>
                      <a:r>
                        <a:rPr lang="en-US" sz="1000" dirty="0">
                          <a:solidFill>
                            <a:srgbClr val="1A1A2E"/>
                          </a:solidFill>
                        </a:rPr>
                        <a:t>LLM: discourse-level</a:t>
                      </a:r>
                      <a:endParaRPr lang="en-US" sz="1000" dirty="0"/>
                    </a:p>
                  </a:txBody>
                  <a:tcPr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solidFill>
                      <a:srgbClr val="F7F7F7"/>
                    </a:solidFill>
                  </a:tcPr>
                </a:tc>
                <a:extLst>
                  <a:ext uri="{0D108BD9-81ED-4DB2-BD59-A6C34878D82A}">
                    <a16:rowId xmlns:a16="http://schemas.microsoft.com/office/drawing/2014/main" val="10002"/>
                  </a:ext>
                </a:extLst>
              </a:tr>
              <a:tr h="384048">
                <a:tc>
                  <a:txBody>
                    <a:bodyPr/>
                    <a:lstStyle/>
                    <a:p>
                      <a:pPr marL="0" indent="0">
                        <a:buNone/>
                      </a:pPr>
                      <a:r>
                        <a:rPr lang="en-US" sz="1000" dirty="0">
                          <a:solidFill>
                            <a:srgbClr val="1A1A2E"/>
                          </a:solidFill>
                        </a:rPr>
                        <a:t>Lexical Resource</a:t>
                      </a:r>
                      <a:endParaRPr lang="en-US" sz="1000" dirty="0"/>
                    </a:p>
                  </a:txBody>
                  <a:tcPr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solidFill>
                      <a:srgbClr val="FFFFFF"/>
                    </a:solidFill>
                  </a:tcPr>
                </a:tc>
                <a:tc>
                  <a:txBody>
                    <a:bodyPr/>
                    <a:lstStyle/>
                    <a:p>
                      <a:pPr marL="0" indent="0">
                        <a:buNone/>
                      </a:pPr>
                      <a:r>
                        <a:rPr lang="en-US" sz="1000" dirty="0">
                          <a:solidFill>
                            <a:srgbClr val="1A1A2E"/>
                          </a:solidFill>
                        </a:rPr>
                        <a:t>70%</a:t>
                      </a:r>
                      <a:endParaRPr lang="en-US" sz="1000" dirty="0"/>
                    </a:p>
                  </a:txBody>
                  <a:tcPr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solidFill>
                      <a:srgbClr val="FFFFFF"/>
                    </a:solidFill>
                  </a:tcPr>
                </a:tc>
                <a:tc>
                  <a:txBody>
                    <a:bodyPr/>
                    <a:lstStyle/>
                    <a:p>
                      <a:pPr marL="0" indent="0">
                        <a:buNone/>
                      </a:pPr>
                      <a:r>
                        <a:rPr lang="en-US" sz="1000" dirty="0">
                          <a:solidFill>
                            <a:srgbClr val="1A1A2E"/>
                          </a:solidFill>
                        </a:rPr>
                        <a:t>30%</a:t>
                      </a:r>
                      <a:endParaRPr lang="en-US" sz="1000" dirty="0"/>
                    </a:p>
                  </a:txBody>
                  <a:tcPr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solidFill>
                      <a:srgbClr val="FFFFFF"/>
                    </a:solidFill>
                  </a:tcPr>
                </a:tc>
                <a:tc>
                  <a:txBody>
                    <a:bodyPr/>
                    <a:lstStyle/>
                    <a:p>
                      <a:pPr marL="0" indent="0">
                        <a:buNone/>
                      </a:pPr>
                      <a:r>
                        <a:rPr lang="en-US" sz="1000" dirty="0">
                          <a:solidFill>
                            <a:srgbClr val="1A1A2E"/>
                          </a:solidFill>
                        </a:rPr>
                        <a:t>Hybrid: TTR + word count</a:t>
                      </a:r>
                      <a:endParaRPr lang="en-US" sz="1000" dirty="0"/>
                    </a:p>
                  </a:txBody>
                  <a:tcPr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buNone/>
                      </a:pPr>
                      <a:r>
                        <a:rPr lang="en-US" sz="1000" dirty="0">
                          <a:solidFill>
                            <a:srgbClr val="1A1A2E"/>
                          </a:solidFill>
                        </a:rPr>
                        <a:t>Gramm. Range &amp; Accuracy</a:t>
                      </a:r>
                      <a:endParaRPr lang="en-US" sz="1000" dirty="0"/>
                    </a:p>
                  </a:txBody>
                  <a:tcPr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solidFill>
                      <a:srgbClr val="F7F7F7"/>
                    </a:solidFill>
                  </a:tcPr>
                </a:tc>
                <a:tc>
                  <a:txBody>
                    <a:bodyPr/>
                    <a:lstStyle/>
                    <a:p>
                      <a:pPr marL="0" indent="0">
                        <a:buNone/>
                      </a:pPr>
                      <a:r>
                        <a:rPr lang="en-US" sz="1000" dirty="0">
                          <a:solidFill>
                            <a:srgbClr val="1A1A2E"/>
                          </a:solidFill>
                        </a:rPr>
                        <a:t>80%</a:t>
                      </a:r>
                      <a:endParaRPr lang="en-US" sz="1000" dirty="0"/>
                    </a:p>
                  </a:txBody>
                  <a:tcPr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solidFill>
                      <a:srgbClr val="F7F7F7"/>
                    </a:solidFill>
                  </a:tcPr>
                </a:tc>
                <a:tc>
                  <a:txBody>
                    <a:bodyPr/>
                    <a:lstStyle/>
                    <a:p>
                      <a:pPr marL="0" indent="0">
                        <a:buNone/>
                      </a:pPr>
                      <a:r>
                        <a:rPr lang="en-US" sz="1000" dirty="0">
                          <a:solidFill>
                            <a:srgbClr val="1A1A2E"/>
                          </a:solidFill>
                        </a:rPr>
                        <a:t>20%</a:t>
                      </a:r>
                      <a:endParaRPr lang="en-US" sz="1000" dirty="0"/>
                    </a:p>
                  </a:txBody>
                  <a:tcPr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solidFill>
                      <a:srgbClr val="F7F7F7"/>
                    </a:solidFill>
                  </a:tcPr>
                </a:tc>
                <a:tc>
                  <a:txBody>
                    <a:bodyPr/>
                    <a:lstStyle/>
                    <a:p>
                      <a:pPr marL="0" indent="0">
                        <a:buNone/>
                      </a:pPr>
                      <a:r>
                        <a:rPr lang="en-US" sz="1000" dirty="0">
                          <a:solidFill>
                            <a:srgbClr val="1A1A2E"/>
                          </a:solidFill>
                        </a:rPr>
                        <a:t>Hybrid: syntactic features</a:t>
                      </a:r>
                      <a:endParaRPr lang="en-US" sz="1000" dirty="0"/>
                    </a:p>
                  </a:txBody>
                  <a:tcPr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solidFill>
                      <a:srgbClr val="F7F7F7"/>
                    </a:solidFill>
                  </a:tcPr>
                </a:tc>
                <a:extLst>
                  <a:ext uri="{0D108BD9-81ED-4DB2-BD59-A6C34878D82A}">
                    <a16:rowId xmlns:a16="http://schemas.microsoft.com/office/drawing/2014/main" val="10004"/>
                  </a:ext>
                </a:extLst>
              </a:tr>
            </a:tbl>
          </a:graphicData>
        </a:graphic>
      </p:graphicFrame>
      <p:sp>
        <p:nvSpPr>
          <p:cNvPr id="6" name="Text 3"/>
          <p:cNvSpPr/>
          <p:nvPr/>
        </p:nvSpPr>
        <p:spPr>
          <a:xfrm>
            <a:off x="4754880" y="749808"/>
            <a:ext cx="4023360" cy="320040"/>
          </a:xfrm>
          <a:prstGeom prst="rect">
            <a:avLst/>
          </a:prstGeom>
          <a:noFill/>
          <a:ln/>
        </p:spPr>
        <p:txBody>
          <a:bodyPr wrap="square" lIns="0" tIns="0" rIns="0" bIns="0" rtlCol="0" anchor="ctr"/>
          <a:lstStyle/>
          <a:p>
            <a:pPr marL="0" indent="0">
              <a:buNone/>
            </a:pPr>
            <a:r>
              <a:rPr lang="en-US" sz="1300" b="1" dirty="0">
                <a:solidFill>
                  <a:srgbClr val="1A1A2E"/>
                </a:solidFill>
                <a:latin typeface="Georgia" pitchFamily="34" charset="0"/>
                <a:ea typeface="Georgia" pitchFamily="34" charset="-122"/>
                <a:cs typeface="Georgia" pitchFamily="34" charset="-120"/>
              </a:rPr>
              <a:t>Results (R² / Within ±0.5 Band)</a:t>
            </a:r>
            <a:endParaRPr lang="en-US" sz="1300" dirty="0"/>
          </a:p>
        </p:txBody>
      </p:sp>
      <p:sp>
        <p:nvSpPr>
          <p:cNvPr id="5" name="Shape 4"/>
          <p:cNvSpPr/>
          <p:nvPr/>
        </p:nvSpPr>
        <p:spPr>
          <a:xfrm>
            <a:off x="4754880" y="1170432"/>
            <a:ext cx="4023360" cy="685800"/>
          </a:xfrm>
          <a:prstGeom prst="rect">
            <a:avLst/>
          </a:prstGeom>
          <a:solidFill>
            <a:srgbClr val="F7F7F7"/>
          </a:solidFill>
          <a:ln w="12700">
            <a:solidFill>
              <a:srgbClr val="D8DEE4"/>
            </a:solidFill>
            <a:prstDash val="solid"/>
          </a:ln>
        </p:spPr>
      </p:sp>
      <p:sp>
        <p:nvSpPr>
          <p:cNvPr id="8" name="Shape 5"/>
          <p:cNvSpPr/>
          <p:nvPr/>
        </p:nvSpPr>
        <p:spPr>
          <a:xfrm>
            <a:off x="4754880" y="1170432"/>
            <a:ext cx="3155046" cy="685800"/>
          </a:xfrm>
          <a:prstGeom prst="rect">
            <a:avLst/>
          </a:prstGeom>
          <a:solidFill>
            <a:srgbClr val="4A90D9">
              <a:alpha val="30000"/>
            </a:srgbClr>
          </a:solidFill>
          <a:ln w="12700">
            <a:solidFill>
              <a:srgbClr val="4A90D9">
                <a:alpha val="30000"/>
              </a:srgbClr>
            </a:solidFill>
            <a:prstDash val="solid"/>
          </a:ln>
        </p:spPr>
      </p:sp>
      <p:sp>
        <p:nvSpPr>
          <p:cNvPr id="9" name="Text 6"/>
          <p:cNvSpPr/>
          <p:nvPr/>
        </p:nvSpPr>
        <p:spPr>
          <a:xfrm>
            <a:off x="4846320" y="1207008"/>
            <a:ext cx="2286000" cy="292608"/>
          </a:xfrm>
          <a:prstGeom prst="rect">
            <a:avLst/>
          </a:prstGeom>
          <a:noFill/>
          <a:ln/>
        </p:spPr>
        <p:txBody>
          <a:bodyPr wrap="square" lIns="0" tIns="0" rIns="0" bIns="0" rtlCol="0" anchor="ctr"/>
          <a:lstStyle/>
          <a:p>
            <a:pPr marL="0" indent="0">
              <a:buNone/>
            </a:pPr>
            <a:r>
              <a:rPr lang="en-US" sz="1100" b="1" dirty="0">
                <a:solidFill>
                  <a:srgbClr val="1A1A2E"/>
                </a:solidFill>
                <a:latin typeface="Calibri" pitchFamily="34" charset="0"/>
                <a:ea typeface="Calibri" pitchFamily="34" charset="-122"/>
                <a:cs typeface="Calibri" pitchFamily="34" charset="-120"/>
              </a:rPr>
              <a:t>Task Achievement</a:t>
            </a:r>
            <a:endParaRPr lang="en-US" sz="1100" dirty="0"/>
          </a:p>
        </p:txBody>
      </p:sp>
      <p:sp>
        <p:nvSpPr>
          <p:cNvPr id="10" name="Text 7"/>
          <p:cNvSpPr/>
          <p:nvPr/>
        </p:nvSpPr>
        <p:spPr>
          <a:xfrm>
            <a:off x="4846320" y="1517904"/>
            <a:ext cx="1371600" cy="256032"/>
          </a:xfrm>
          <a:prstGeom prst="rect">
            <a:avLst/>
          </a:prstGeom>
          <a:noFill/>
          <a:ln/>
        </p:spPr>
        <p:txBody>
          <a:bodyPr wrap="square" lIns="0" tIns="0" rIns="0" bIns="0" rtlCol="0" anchor="ctr"/>
          <a:lstStyle/>
          <a:p>
            <a:pPr marL="0" indent="0">
              <a:buNone/>
            </a:pPr>
            <a:r>
              <a:rPr lang="en-US" sz="1100" dirty="0">
                <a:solidFill>
                  <a:srgbClr val="36454F"/>
                </a:solidFill>
                <a:latin typeface="Calibri" pitchFamily="34" charset="0"/>
                <a:ea typeface="Calibri" pitchFamily="34" charset="-122"/>
                <a:cs typeface="Calibri" pitchFamily="34" charset="-120"/>
              </a:rPr>
              <a:t>R² 0.908</a:t>
            </a:r>
            <a:endParaRPr lang="en-US" sz="1100" dirty="0"/>
          </a:p>
        </p:txBody>
      </p:sp>
      <p:sp>
        <p:nvSpPr>
          <p:cNvPr id="11" name="Text 8"/>
          <p:cNvSpPr/>
          <p:nvPr/>
        </p:nvSpPr>
        <p:spPr>
          <a:xfrm>
            <a:off x="6400800" y="1517904"/>
            <a:ext cx="2286000" cy="256032"/>
          </a:xfrm>
          <a:prstGeom prst="rect">
            <a:avLst/>
          </a:prstGeom>
          <a:noFill/>
          <a:ln/>
        </p:spPr>
        <p:txBody>
          <a:bodyPr wrap="square" lIns="0" tIns="0" rIns="0" bIns="0" rtlCol="0" anchor="ctr"/>
          <a:lstStyle/>
          <a:p>
            <a:pPr marL="0" indent="0">
              <a:buNone/>
            </a:pPr>
            <a:r>
              <a:rPr lang="en-US" sz="1100" b="1" dirty="0">
                <a:solidFill>
                  <a:srgbClr val="27AE60"/>
                </a:solidFill>
                <a:latin typeface="Calibri" pitchFamily="34" charset="0"/>
                <a:ea typeface="Calibri" pitchFamily="34" charset="-122"/>
                <a:cs typeface="Calibri" pitchFamily="34" charset="-120"/>
              </a:rPr>
              <a:t>90.7% within ±0.5 band</a:t>
            </a:r>
            <a:endParaRPr lang="en-US" sz="1100" dirty="0"/>
          </a:p>
        </p:txBody>
      </p:sp>
      <p:sp>
        <p:nvSpPr>
          <p:cNvPr id="12" name="Shape 9"/>
          <p:cNvSpPr/>
          <p:nvPr/>
        </p:nvSpPr>
        <p:spPr>
          <a:xfrm>
            <a:off x="4754880" y="2039112"/>
            <a:ext cx="4023360" cy="685800"/>
          </a:xfrm>
          <a:prstGeom prst="rect">
            <a:avLst/>
          </a:prstGeom>
          <a:solidFill>
            <a:srgbClr val="F7F7F7"/>
          </a:solidFill>
          <a:ln w="12700">
            <a:solidFill>
              <a:srgbClr val="D8DEE4"/>
            </a:solidFill>
            <a:prstDash val="solid"/>
          </a:ln>
        </p:spPr>
      </p:sp>
      <p:sp>
        <p:nvSpPr>
          <p:cNvPr id="13" name="Shape 10"/>
          <p:cNvSpPr/>
          <p:nvPr/>
        </p:nvSpPr>
        <p:spPr>
          <a:xfrm>
            <a:off x="4754880" y="2039112"/>
            <a:ext cx="2953512" cy="685800"/>
          </a:xfrm>
          <a:prstGeom prst="rect">
            <a:avLst/>
          </a:prstGeom>
          <a:solidFill>
            <a:srgbClr val="4A90D9">
              <a:alpha val="30000"/>
            </a:srgbClr>
          </a:solidFill>
          <a:ln w="12700">
            <a:solidFill>
              <a:srgbClr val="4A90D9">
                <a:alpha val="30000"/>
              </a:srgbClr>
            </a:solidFill>
            <a:prstDash val="solid"/>
          </a:ln>
        </p:spPr>
      </p:sp>
      <p:sp>
        <p:nvSpPr>
          <p:cNvPr id="14" name="Text 11"/>
          <p:cNvSpPr/>
          <p:nvPr/>
        </p:nvSpPr>
        <p:spPr>
          <a:xfrm>
            <a:off x="4846320" y="2075688"/>
            <a:ext cx="2286000" cy="292608"/>
          </a:xfrm>
          <a:prstGeom prst="rect">
            <a:avLst/>
          </a:prstGeom>
          <a:noFill/>
          <a:ln/>
        </p:spPr>
        <p:txBody>
          <a:bodyPr wrap="square" lIns="0" tIns="0" rIns="0" bIns="0" rtlCol="0" anchor="ctr"/>
          <a:lstStyle/>
          <a:p>
            <a:pPr marL="0" indent="0">
              <a:buNone/>
            </a:pPr>
            <a:r>
              <a:rPr lang="en-US" sz="1100" b="1" dirty="0">
                <a:solidFill>
                  <a:srgbClr val="1A1A2E"/>
                </a:solidFill>
                <a:latin typeface="Calibri" pitchFamily="34" charset="0"/>
                <a:ea typeface="Calibri" pitchFamily="34" charset="-122"/>
                <a:cs typeface="Calibri" pitchFamily="34" charset="-120"/>
              </a:rPr>
              <a:t>Coherence &amp; Cohesion</a:t>
            </a:r>
            <a:endParaRPr lang="en-US" sz="1100" dirty="0"/>
          </a:p>
        </p:txBody>
      </p:sp>
      <p:sp>
        <p:nvSpPr>
          <p:cNvPr id="15" name="Text 12"/>
          <p:cNvSpPr/>
          <p:nvPr/>
        </p:nvSpPr>
        <p:spPr>
          <a:xfrm>
            <a:off x="4846320" y="2386584"/>
            <a:ext cx="1371600" cy="256032"/>
          </a:xfrm>
          <a:prstGeom prst="rect">
            <a:avLst/>
          </a:prstGeom>
          <a:noFill/>
          <a:ln/>
        </p:spPr>
        <p:txBody>
          <a:bodyPr wrap="square" lIns="0" tIns="0" rIns="0" bIns="0" rtlCol="0" anchor="ctr"/>
          <a:lstStyle/>
          <a:p>
            <a:pPr marL="0" indent="0">
              <a:buNone/>
            </a:pPr>
            <a:r>
              <a:rPr lang="en-US" sz="1100" dirty="0">
                <a:solidFill>
                  <a:srgbClr val="36454F"/>
                </a:solidFill>
                <a:latin typeface="Calibri" pitchFamily="34" charset="0"/>
                <a:ea typeface="Calibri" pitchFamily="34" charset="-122"/>
                <a:cs typeface="Calibri" pitchFamily="34" charset="-120"/>
              </a:rPr>
              <a:t>R² 0.850</a:t>
            </a:r>
            <a:endParaRPr lang="en-US" sz="1100" dirty="0"/>
          </a:p>
        </p:txBody>
      </p:sp>
      <p:sp>
        <p:nvSpPr>
          <p:cNvPr id="16" name="Text 13"/>
          <p:cNvSpPr/>
          <p:nvPr/>
        </p:nvSpPr>
        <p:spPr>
          <a:xfrm>
            <a:off x="6400800" y="2386584"/>
            <a:ext cx="2286000" cy="256032"/>
          </a:xfrm>
          <a:prstGeom prst="rect">
            <a:avLst/>
          </a:prstGeom>
          <a:noFill/>
          <a:ln/>
        </p:spPr>
        <p:txBody>
          <a:bodyPr wrap="square" lIns="0" tIns="0" rIns="0" bIns="0" rtlCol="0" anchor="ctr"/>
          <a:lstStyle/>
          <a:p>
            <a:pPr marL="0" indent="0">
              <a:buNone/>
            </a:pPr>
            <a:r>
              <a:rPr lang="en-US" sz="1100" b="1" dirty="0">
                <a:solidFill>
                  <a:srgbClr val="27AE60"/>
                </a:solidFill>
                <a:latin typeface="Calibri" pitchFamily="34" charset="0"/>
                <a:ea typeface="Calibri" pitchFamily="34" charset="-122"/>
                <a:cs typeface="Calibri" pitchFamily="34" charset="-120"/>
              </a:rPr>
              <a:t>89.0% within ±0.5 band</a:t>
            </a:r>
            <a:endParaRPr lang="en-US" sz="1100" dirty="0"/>
          </a:p>
        </p:txBody>
      </p:sp>
      <p:sp>
        <p:nvSpPr>
          <p:cNvPr id="17" name="Shape 14"/>
          <p:cNvSpPr/>
          <p:nvPr/>
        </p:nvSpPr>
        <p:spPr>
          <a:xfrm>
            <a:off x="4754880" y="2907792"/>
            <a:ext cx="4023360" cy="685800"/>
          </a:xfrm>
          <a:prstGeom prst="rect">
            <a:avLst/>
          </a:prstGeom>
          <a:solidFill>
            <a:srgbClr val="F7F7F7"/>
          </a:solidFill>
          <a:ln w="12700">
            <a:solidFill>
              <a:srgbClr val="D8DEE4"/>
            </a:solidFill>
            <a:prstDash val="solid"/>
          </a:ln>
        </p:spPr>
      </p:sp>
      <p:sp>
        <p:nvSpPr>
          <p:cNvPr id="18" name="Shape 15"/>
          <p:cNvSpPr/>
          <p:nvPr/>
        </p:nvSpPr>
        <p:spPr>
          <a:xfrm>
            <a:off x="4754880" y="2907792"/>
            <a:ext cx="3029956" cy="685800"/>
          </a:xfrm>
          <a:prstGeom prst="rect">
            <a:avLst/>
          </a:prstGeom>
          <a:solidFill>
            <a:srgbClr val="4A90D9">
              <a:alpha val="30000"/>
            </a:srgbClr>
          </a:solidFill>
          <a:ln w="12700">
            <a:solidFill>
              <a:srgbClr val="4A90D9">
                <a:alpha val="30000"/>
              </a:srgbClr>
            </a:solidFill>
            <a:prstDash val="solid"/>
          </a:ln>
        </p:spPr>
      </p:sp>
      <p:sp>
        <p:nvSpPr>
          <p:cNvPr id="19" name="Text 16"/>
          <p:cNvSpPr/>
          <p:nvPr/>
        </p:nvSpPr>
        <p:spPr>
          <a:xfrm>
            <a:off x="4846320" y="2944368"/>
            <a:ext cx="2286000" cy="292608"/>
          </a:xfrm>
          <a:prstGeom prst="rect">
            <a:avLst/>
          </a:prstGeom>
          <a:noFill/>
          <a:ln/>
        </p:spPr>
        <p:txBody>
          <a:bodyPr wrap="square" lIns="0" tIns="0" rIns="0" bIns="0" rtlCol="0" anchor="ctr"/>
          <a:lstStyle/>
          <a:p>
            <a:pPr marL="0" indent="0">
              <a:buNone/>
            </a:pPr>
            <a:r>
              <a:rPr lang="en-US" sz="1100" b="1" dirty="0">
                <a:solidFill>
                  <a:srgbClr val="1A1A2E"/>
                </a:solidFill>
                <a:latin typeface="Calibri" pitchFamily="34" charset="0"/>
                <a:ea typeface="Calibri" pitchFamily="34" charset="-122"/>
                <a:cs typeface="Calibri" pitchFamily="34" charset="-120"/>
              </a:rPr>
              <a:t>Lexical Resource</a:t>
            </a:r>
            <a:endParaRPr lang="en-US" sz="1100" dirty="0"/>
          </a:p>
        </p:txBody>
      </p:sp>
      <p:sp>
        <p:nvSpPr>
          <p:cNvPr id="20" name="Text 17"/>
          <p:cNvSpPr/>
          <p:nvPr/>
        </p:nvSpPr>
        <p:spPr>
          <a:xfrm>
            <a:off x="4846320" y="3255264"/>
            <a:ext cx="1371600" cy="256032"/>
          </a:xfrm>
          <a:prstGeom prst="rect">
            <a:avLst/>
          </a:prstGeom>
          <a:noFill/>
          <a:ln/>
        </p:spPr>
        <p:txBody>
          <a:bodyPr wrap="square" lIns="0" tIns="0" rIns="0" bIns="0" rtlCol="0" anchor="ctr"/>
          <a:lstStyle/>
          <a:p>
            <a:pPr marL="0" indent="0">
              <a:buNone/>
            </a:pPr>
            <a:r>
              <a:rPr lang="en-US" sz="1100" dirty="0">
                <a:solidFill>
                  <a:srgbClr val="36454F"/>
                </a:solidFill>
                <a:latin typeface="Calibri" pitchFamily="34" charset="0"/>
                <a:ea typeface="Calibri" pitchFamily="34" charset="-122"/>
                <a:cs typeface="Calibri" pitchFamily="34" charset="-120"/>
              </a:rPr>
              <a:t>R² 0.872</a:t>
            </a:r>
            <a:endParaRPr lang="en-US" sz="1100" dirty="0"/>
          </a:p>
        </p:txBody>
      </p:sp>
      <p:sp>
        <p:nvSpPr>
          <p:cNvPr id="21" name="Text 18"/>
          <p:cNvSpPr/>
          <p:nvPr/>
        </p:nvSpPr>
        <p:spPr>
          <a:xfrm>
            <a:off x="6400800" y="3255264"/>
            <a:ext cx="2286000" cy="256032"/>
          </a:xfrm>
          <a:prstGeom prst="rect">
            <a:avLst/>
          </a:prstGeom>
          <a:noFill/>
          <a:ln/>
        </p:spPr>
        <p:txBody>
          <a:bodyPr wrap="square" lIns="0" tIns="0" rIns="0" bIns="0" rtlCol="0" anchor="ctr"/>
          <a:lstStyle/>
          <a:p>
            <a:pPr marL="0" indent="0">
              <a:buNone/>
            </a:pPr>
            <a:r>
              <a:rPr lang="en-US" sz="1100" b="1" dirty="0">
                <a:solidFill>
                  <a:srgbClr val="27AE60"/>
                </a:solidFill>
                <a:latin typeface="Calibri" pitchFamily="34" charset="0"/>
                <a:ea typeface="Calibri" pitchFamily="34" charset="-122"/>
                <a:cs typeface="Calibri" pitchFamily="34" charset="-120"/>
              </a:rPr>
              <a:t>88.7% within ±0.5 band</a:t>
            </a:r>
            <a:endParaRPr lang="en-US" sz="1100" dirty="0"/>
          </a:p>
        </p:txBody>
      </p:sp>
      <p:sp>
        <p:nvSpPr>
          <p:cNvPr id="22" name="Shape 19"/>
          <p:cNvSpPr/>
          <p:nvPr/>
        </p:nvSpPr>
        <p:spPr>
          <a:xfrm>
            <a:off x="4754880" y="3776472"/>
            <a:ext cx="4023360" cy="685800"/>
          </a:xfrm>
          <a:prstGeom prst="rect">
            <a:avLst/>
          </a:prstGeom>
          <a:solidFill>
            <a:srgbClr val="F7F7F7"/>
          </a:solidFill>
          <a:ln w="12700">
            <a:solidFill>
              <a:srgbClr val="D8DEE4"/>
            </a:solidFill>
            <a:prstDash val="solid"/>
          </a:ln>
        </p:spPr>
      </p:sp>
      <p:sp>
        <p:nvSpPr>
          <p:cNvPr id="23" name="Shape 20"/>
          <p:cNvSpPr/>
          <p:nvPr/>
        </p:nvSpPr>
        <p:spPr>
          <a:xfrm>
            <a:off x="4754880" y="3776472"/>
            <a:ext cx="2884018" cy="685800"/>
          </a:xfrm>
          <a:prstGeom prst="rect">
            <a:avLst/>
          </a:prstGeom>
          <a:solidFill>
            <a:srgbClr val="4A90D9">
              <a:alpha val="30000"/>
            </a:srgbClr>
          </a:solidFill>
          <a:ln w="12700">
            <a:solidFill>
              <a:srgbClr val="4A90D9">
                <a:alpha val="30000"/>
              </a:srgbClr>
            </a:solidFill>
            <a:prstDash val="solid"/>
          </a:ln>
        </p:spPr>
      </p:sp>
      <p:sp>
        <p:nvSpPr>
          <p:cNvPr id="24" name="Text 21"/>
          <p:cNvSpPr/>
          <p:nvPr/>
        </p:nvSpPr>
        <p:spPr>
          <a:xfrm>
            <a:off x="4846320" y="3813048"/>
            <a:ext cx="2286000" cy="292608"/>
          </a:xfrm>
          <a:prstGeom prst="rect">
            <a:avLst/>
          </a:prstGeom>
          <a:noFill/>
          <a:ln/>
        </p:spPr>
        <p:txBody>
          <a:bodyPr wrap="square" lIns="0" tIns="0" rIns="0" bIns="0" rtlCol="0" anchor="ctr"/>
          <a:lstStyle/>
          <a:p>
            <a:pPr marL="0" indent="0">
              <a:buNone/>
            </a:pPr>
            <a:r>
              <a:rPr lang="en-US" sz="1100" b="1" dirty="0">
                <a:solidFill>
                  <a:srgbClr val="1A1A2E"/>
                </a:solidFill>
                <a:latin typeface="Calibri" pitchFamily="34" charset="0"/>
                <a:ea typeface="Calibri" pitchFamily="34" charset="-122"/>
                <a:cs typeface="Calibri" pitchFamily="34" charset="-120"/>
              </a:rPr>
              <a:t>Gramm. Range</a:t>
            </a:r>
            <a:endParaRPr lang="en-US" sz="1100" dirty="0"/>
          </a:p>
        </p:txBody>
      </p:sp>
      <p:sp>
        <p:nvSpPr>
          <p:cNvPr id="25" name="Text 22"/>
          <p:cNvSpPr/>
          <p:nvPr/>
        </p:nvSpPr>
        <p:spPr>
          <a:xfrm>
            <a:off x="4846320" y="4123944"/>
            <a:ext cx="1371600" cy="256032"/>
          </a:xfrm>
          <a:prstGeom prst="rect">
            <a:avLst/>
          </a:prstGeom>
          <a:noFill/>
          <a:ln/>
        </p:spPr>
        <p:txBody>
          <a:bodyPr wrap="square" lIns="0" tIns="0" rIns="0" bIns="0" rtlCol="0" anchor="ctr"/>
          <a:lstStyle/>
          <a:p>
            <a:pPr marL="0" indent="0">
              <a:buNone/>
            </a:pPr>
            <a:r>
              <a:rPr lang="en-US" sz="1100" dirty="0">
                <a:solidFill>
                  <a:srgbClr val="36454F"/>
                </a:solidFill>
                <a:latin typeface="Calibri" pitchFamily="34" charset="0"/>
                <a:ea typeface="Calibri" pitchFamily="34" charset="-122"/>
                <a:cs typeface="Calibri" pitchFamily="34" charset="-120"/>
              </a:rPr>
              <a:t>R² 0.830</a:t>
            </a:r>
            <a:endParaRPr lang="en-US" sz="1100" dirty="0"/>
          </a:p>
        </p:txBody>
      </p:sp>
      <p:sp>
        <p:nvSpPr>
          <p:cNvPr id="26" name="Text 23"/>
          <p:cNvSpPr/>
          <p:nvPr/>
        </p:nvSpPr>
        <p:spPr>
          <a:xfrm>
            <a:off x="6400800" y="4123944"/>
            <a:ext cx="2286000" cy="256032"/>
          </a:xfrm>
          <a:prstGeom prst="rect">
            <a:avLst/>
          </a:prstGeom>
          <a:noFill/>
          <a:ln/>
        </p:spPr>
        <p:txBody>
          <a:bodyPr wrap="square" lIns="0" tIns="0" rIns="0" bIns="0" rtlCol="0" anchor="ctr"/>
          <a:lstStyle/>
          <a:p>
            <a:pPr marL="0" indent="0">
              <a:buNone/>
            </a:pPr>
            <a:r>
              <a:rPr lang="en-US" sz="1100" b="1" dirty="0">
                <a:solidFill>
                  <a:srgbClr val="27AE60"/>
                </a:solidFill>
                <a:latin typeface="Calibri" pitchFamily="34" charset="0"/>
                <a:ea typeface="Calibri" pitchFamily="34" charset="-122"/>
                <a:cs typeface="Calibri" pitchFamily="34" charset="-120"/>
              </a:rPr>
              <a:t>83.0% within ±0.5 band</a:t>
            </a:r>
            <a:endParaRPr lang="en-US" sz="1100" dirty="0"/>
          </a:p>
        </p:txBody>
      </p:sp>
      <p:sp>
        <p:nvSpPr>
          <p:cNvPr id="27" name="Text 24"/>
          <p:cNvSpPr/>
          <p:nvPr/>
        </p:nvSpPr>
        <p:spPr>
          <a:xfrm>
            <a:off x="320040" y="4617720"/>
            <a:ext cx="8503920" cy="347472"/>
          </a:xfrm>
          <a:prstGeom prst="rect">
            <a:avLst/>
          </a:prstGeom>
          <a:noFill/>
          <a:ln/>
        </p:spPr>
        <p:txBody>
          <a:bodyPr wrap="square" lIns="0" tIns="0" rIns="0" bIns="0" rtlCol="0" anchor="ctr"/>
          <a:lstStyle/>
          <a:p>
            <a:pPr marL="0" indent="0">
              <a:buNone/>
            </a:pPr>
            <a:r>
              <a:rPr lang="en-US" sz="1000" i="1" dirty="0">
                <a:solidFill>
                  <a:srgbClr val="8A9BB0"/>
                </a:solidFill>
                <a:latin typeface="Calibri" pitchFamily="34" charset="0"/>
                <a:ea typeface="Calibri" pitchFamily="34" charset="-122"/>
                <a:cs typeface="Calibri" pitchFamily="34" charset="-120"/>
              </a:rPr>
              <a:t>Graceful fallback to 100% hybrid scores if LLM API unavailable.</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A1A2E"/>
          </a:solidFill>
          <a:ln w="12700">
            <a:solidFill>
              <a:srgbClr val="1A1A2E"/>
            </a:solidFill>
            <a:prstDash val="solid"/>
          </a:ln>
        </p:spPr>
      </p:sp>
      <p:sp>
        <p:nvSpPr>
          <p:cNvPr id="3" name="Text 1"/>
          <p:cNvSpPr/>
          <p:nvPr/>
        </p:nvSpPr>
        <p:spPr>
          <a:xfrm>
            <a:off x="457200" y="0"/>
            <a:ext cx="8229600" cy="640080"/>
          </a:xfrm>
          <a:prstGeom prst="rect">
            <a:avLst/>
          </a:prstGeom>
          <a:noFill/>
          <a:ln/>
        </p:spPr>
        <p:txBody>
          <a:bodyPr wrap="square" lIns="0" tIns="0" rIns="0" bIns="0" rtlCol="0" anchor="ctr"/>
          <a:lstStyle/>
          <a:p>
            <a:pPr marL="0" indent="0">
              <a:buNone/>
            </a:pPr>
            <a:r>
              <a:rPr lang="en-US" sz="2000" b="1" dirty="0">
                <a:solidFill>
                  <a:srgbClr val="FFFFFF"/>
                </a:solidFill>
                <a:latin typeface="Georgia" pitchFamily="34" charset="0"/>
                <a:ea typeface="Georgia" pitchFamily="34" charset="-122"/>
                <a:cs typeface="Georgia" pitchFamily="34" charset="-120"/>
              </a:rPr>
              <a:t>System Architecture</a:t>
            </a:r>
            <a:endParaRPr lang="en-US" sz="2000" dirty="0"/>
          </a:p>
        </p:txBody>
      </p:sp>
      <p:sp>
        <p:nvSpPr>
          <p:cNvPr id="4" name="Shape 2"/>
          <p:cNvSpPr/>
          <p:nvPr/>
        </p:nvSpPr>
        <p:spPr>
          <a:xfrm>
            <a:off x="320040" y="749808"/>
            <a:ext cx="1371600" cy="530352"/>
          </a:xfrm>
          <a:prstGeom prst="rect">
            <a:avLst/>
          </a:prstGeom>
          <a:solidFill>
            <a:srgbClr val="2C3E50"/>
          </a:solidFill>
          <a:ln w="12700">
            <a:solidFill>
              <a:srgbClr val="2C3E50"/>
            </a:solidFill>
            <a:prstDash val="solid"/>
          </a:ln>
        </p:spPr>
      </p:sp>
      <p:sp>
        <p:nvSpPr>
          <p:cNvPr id="5" name="Text 3"/>
          <p:cNvSpPr/>
          <p:nvPr/>
        </p:nvSpPr>
        <p:spPr>
          <a:xfrm>
            <a:off x="320040" y="749808"/>
            <a:ext cx="1371600" cy="53035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Web Framework</a:t>
            </a:r>
            <a:endParaRPr lang="en-US" sz="1000" dirty="0"/>
          </a:p>
        </p:txBody>
      </p:sp>
      <p:sp>
        <p:nvSpPr>
          <p:cNvPr id="6" name="Shape 4"/>
          <p:cNvSpPr/>
          <p:nvPr/>
        </p:nvSpPr>
        <p:spPr>
          <a:xfrm>
            <a:off x="1691640" y="795528"/>
            <a:ext cx="7132320" cy="438912"/>
          </a:xfrm>
          <a:prstGeom prst="rect">
            <a:avLst/>
          </a:prstGeom>
          <a:solidFill>
            <a:srgbClr val="F7F7F7"/>
          </a:solidFill>
          <a:ln w="12700">
            <a:solidFill>
              <a:srgbClr val="D8DEE4"/>
            </a:solidFill>
            <a:prstDash val="solid"/>
          </a:ln>
        </p:spPr>
      </p:sp>
      <p:sp>
        <p:nvSpPr>
          <p:cNvPr id="7" name="Text 5"/>
          <p:cNvSpPr/>
          <p:nvPr/>
        </p:nvSpPr>
        <p:spPr>
          <a:xfrm>
            <a:off x="1828800" y="795528"/>
            <a:ext cx="6949440" cy="438912"/>
          </a:xfrm>
          <a:prstGeom prst="rect">
            <a:avLst/>
          </a:prstGeom>
          <a:noFill/>
          <a:ln/>
        </p:spPr>
        <p:txBody>
          <a:bodyPr wrap="square" lIns="0" tIns="0" rIns="0" bIns="0" rtlCol="0" anchor="ctr"/>
          <a:lstStyle/>
          <a:p>
            <a:pPr marL="0" indent="0">
              <a:buNone/>
            </a:pPr>
            <a:r>
              <a:rPr lang="en-US" sz="1100" dirty="0">
                <a:solidFill>
                  <a:srgbClr val="36454F"/>
                </a:solidFill>
                <a:latin typeface="Calibri" pitchFamily="34" charset="0"/>
                <a:ea typeface="Calibri" pitchFamily="34" charset="-122"/>
                <a:cs typeface="Calibri" pitchFamily="34" charset="-120"/>
              </a:rPr>
              <a:t>Django 5.2 · MVT · PostgreSQL</a:t>
            </a:r>
            <a:endParaRPr lang="en-US" sz="1100" dirty="0"/>
          </a:p>
        </p:txBody>
      </p:sp>
      <p:sp>
        <p:nvSpPr>
          <p:cNvPr id="8" name="Shape 6"/>
          <p:cNvSpPr/>
          <p:nvPr/>
        </p:nvSpPr>
        <p:spPr>
          <a:xfrm>
            <a:off x="320040" y="1417320"/>
            <a:ext cx="1371600" cy="530352"/>
          </a:xfrm>
          <a:prstGeom prst="rect">
            <a:avLst/>
          </a:prstGeom>
          <a:solidFill>
            <a:srgbClr val="34495E"/>
          </a:solidFill>
          <a:ln w="12700">
            <a:solidFill>
              <a:srgbClr val="34495E"/>
            </a:solidFill>
            <a:prstDash val="solid"/>
          </a:ln>
        </p:spPr>
      </p:sp>
      <p:sp>
        <p:nvSpPr>
          <p:cNvPr id="9" name="Text 7"/>
          <p:cNvSpPr/>
          <p:nvPr/>
        </p:nvSpPr>
        <p:spPr>
          <a:xfrm>
            <a:off x="320040" y="1417320"/>
            <a:ext cx="1371600" cy="53035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ML Engine</a:t>
            </a:r>
            <a:endParaRPr lang="en-US" sz="1000" dirty="0"/>
          </a:p>
        </p:txBody>
      </p:sp>
      <p:sp>
        <p:nvSpPr>
          <p:cNvPr id="10" name="Shape 8"/>
          <p:cNvSpPr/>
          <p:nvPr/>
        </p:nvSpPr>
        <p:spPr>
          <a:xfrm>
            <a:off x="1691640" y="1463040"/>
            <a:ext cx="7132320" cy="438912"/>
          </a:xfrm>
          <a:prstGeom prst="rect">
            <a:avLst/>
          </a:prstGeom>
          <a:solidFill>
            <a:srgbClr val="F7F7F7"/>
          </a:solidFill>
          <a:ln w="12700">
            <a:solidFill>
              <a:srgbClr val="D8DEE4"/>
            </a:solidFill>
            <a:prstDash val="solid"/>
          </a:ln>
        </p:spPr>
      </p:sp>
      <p:sp>
        <p:nvSpPr>
          <p:cNvPr id="11" name="Text 9"/>
          <p:cNvSpPr/>
          <p:nvPr/>
        </p:nvSpPr>
        <p:spPr>
          <a:xfrm>
            <a:off x="1828800" y="1463040"/>
            <a:ext cx="6949440" cy="438912"/>
          </a:xfrm>
          <a:prstGeom prst="rect">
            <a:avLst/>
          </a:prstGeom>
          <a:noFill/>
          <a:ln/>
        </p:spPr>
        <p:txBody>
          <a:bodyPr wrap="square" lIns="0" tIns="0" rIns="0" bIns="0" rtlCol="0" anchor="ctr"/>
          <a:lstStyle/>
          <a:p>
            <a:pPr marL="0" indent="0">
              <a:buNone/>
            </a:pPr>
            <a:r>
              <a:rPr lang="en-US" sz="1100" dirty="0">
                <a:solidFill>
                  <a:srgbClr val="36454F"/>
                </a:solidFill>
                <a:latin typeface="Calibri" pitchFamily="34" charset="0"/>
                <a:ea typeface="Calibri" pitchFamily="34" charset="-122"/>
                <a:cs typeface="Calibri" pitchFamily="34" charset="-120"/>
              </a:rPr>
              <a:t>PyTorch BERT · XGBoost · SentenceTransformers</a:t>
            </a:r>
            <a:endParaRPr lang="en-US" sz="1100" dirty="0"/>
          </a:p>
        </p:txBody>
      </p:sp>
      <p:sp>
        <p:nvSpPr>
          <p:cNvPr id="12" name="Shape 10"/>
          <p:cNvSpPr/>
          <p:nvPr/>
        </p:nvSpPr>
        <p:spPr>
          <a:xfrm>
            <a:off x="320040" y="2084832"/>
            <a:ext cx="1371600" cy="530352"/>
          </a:xfrm>
          <a:prstGeom prst="rect">
            <a:avLst/>
          </a:prstGeom>
          <a:solidFill>
            <a:srgbClr val="3D5166"/>
          </a:solidFill>
          <a:ln w="12700">
            <a:solidFill>
              <a:srgbClr val="3D5166"/>
            </a:solidFill>
            <a:prstDash val="solid"/>
          </a:ln>
        </p:spPr>
      </p:sp>
      <p:sp>
        <p:nvSpPr>
          <p:cNvPr id="13" name="Text 11"/>
          <p:cNvSpPr/>
          <p:nvPr/>
        </p:nvSpPr>
        <p:spPr>
          <a:xfrm>
            <a:off x="320040" y="2084832"/>
            <a:ext cx="1371600" cy="53035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LLM Adjudicator</a:t>
            </a:r>
            <a:endParaRPr lang="en-US" sz="1000" dirty="0"/>
          </a:p>
        </p:txBody>
      </p:sp>
      <p:sp>
        <p:nvSpPr>
          <p:cNvPr id="14" name="Shape 12"/>
          <p:cNvSpPr/>
          <p:nvPr/>
        </p:nvSpPr>
        <p:spPr>
          <a:xfrm>
            <a:off x="1691640" y="2130552"/>
            <a:ext cx="7132320" cy="438912"/>
          </a:xfrm>
          <a:prstGeom prst="rect">
            <a:avLst/>
          </a:prstGeom>
          <a:solidFill>
            <a:srgbClr val="F7F7F7"/>
          </a:solidFill>
          <a:ln w="12700">
            <a:solidFill>
              <a:srgbClr val="D8DEE4"/>
            </a:solidFill>
            <a:prstDash val="solid"/>
          </a:ln>
        </p:spPr>
      </p:sp>
      <p:sp>
        <p:nvSpPr>
          <p:cNvPr id="15" name="Text 13"/>
          <p:cNvSpPr/>
          <p:nvPr/>
        </p:nvSpPr>
        <p:spPr>
          <a:xfrm>
            <a:off x="1828800" y="2130552"/>
            <a:ext cx="6949440" cy="438912"/>
          </a:xfrm>
          <a:prstGeom prst="rect">
            <a:avLst/>
          </a:prstGeom>
          <a:noFill/>
          <a:ln/>
        </p:spPr>
        <p:txBody>
          <a:bodyPr wrap="square" lIns="0" tIns="0" rIns="0" bIns="0" rtlCol="0" anchor="ctr"/>
          <a:lstStyle/>
          <a:p>
            <a:pPr marL="0" indent="0">
              <a:buNone/>
            </a:pPr>
            <a:r>
              <a:rPr lang="en-US" sz="1100" dirty="0">
                <a:solidFill>
                  <a:srgbClr val="36454F"/>
                </a:solidFill>
                <a:latin typeface="Calibri" pitchFamily="34" charset="0"/>
                <a:ea typeface="Calibri" pitchFamily="34" charset="-122"/>
                <a:cs typeface="Calibri" pitchFamily="34" charset="-120"/>
              </a:rPr>
              <a:t>Qwen3-VL-8B · HuggingFace Serverless · Pydantic</a:t>
            </a:r>
            <a:endParaRPr lang="en-US" sz="1100" dirty="0"/>
          </a:p>
        </p:txBody>
      </p:sp>
      <p:sp>
        <p:nvSpPr>
          <p:cNvPr id="16" name="Shape 14"/>
          <p:cNvSpPr/>
          <p:nvPr/>
        </p:nvSpPr>
        <p:spPr>
          <a:xfrm>
            <a:off x="320040" y="2752344"/>
            <a:ext cx="1371600" cy="530352"/>
          </a:xfrm>
          <a:prstGeom prst="rect">
            <a:avLst/>
          </a:prstGeom>
          <a:solidFill>
            <a:srgbClr val="456078"/>
          </a:solidFill>
          <a:ln w="12700">
            <a:solidFill>
              <a:srgbClr val="456078"/>
            </a:solidFill>
            <a:prstDash val="solid"/>
          </a:ln>
        </p:spPr>
      </p:sp>
      <p:sp>
        <p:nvSpPr>
          <p:cNvPr id="17" name="Text 15"/>
          <p:cNvSpPr/>
          <p:nvPr/>
        </p:nvSpPr>
        <p:spPr>
          <a:xfrm>
            <a:off x="320040" y="2752344"/>
            <a:ext cx="1371600" cy="53035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Explainability</a:t>
            </a:r>
            <a:endParaRPr lang="en-US" sz="1000" dirty="0"/>
          </a:p>
        </p:txBody>
      </p:sp>
      <p:sp>
        <p:nvSpPr>
          <p:cNvPr id="18" name="Shape 16"/>
          <p:cNvSpPr/>
          <p:nvPr/>
        </p:nvSpPr>
        <p:spPr>
          <a:xfrm>
            <a:off x="1691640" y="2798064"/>
            <a:ext cx="7132320" cy="438912"/>
          </a:xfrm>
          <a:prstGeom prst="rect">
            <a:avLst/>
          </a:prstGeom>
          <a:solidFill>
            <a:srgbClr val="F7F7F7"/>
          </a:solidFill>
          <a:ln w="12700">
            <a:solidFill>
              <a:srgbClr val="D8DEE4"/>
            </a:solidFill>
            <a:prstDash val="solid"/>
          </a:ln>
        </p:spPr>
      </p:sp>
      <p:sp>
        <p:nvSpPr>
          <p:cNvPr id="19" name="Text 17"/>
          <p:cNvSpPr/>
          <p:nvPr/>
        </p:nvSpPr>
        <p:spPr>
          <a:xfrm>
            <a:off x="1828800" y="2798064"/>
            <a:ext cx="6949440" cy="438912"/>
          </a:xfrm>
          <a:prstGeom prst="rect">
            <a:avLst/>
          </a:prstGeom>
          <a:noFill/>
          <a:ln/>
        </p:spPr>
        <p:txBody>
          <a:bodyPr wrap="square" lIns="0" tIns="0" rIns="0" bIns="0" rtlCol="0" anchor="ctr"/>
          <a:lstStyle/>
          <a:p>
            <a:pPr marL="0" indent="0">
              <a:buNone/>
            </a:pPr>
            <a:r>
              <a:rPr lang="en-US" sz="1100" dirty="0">
                <a:solidFill>
                  <a:srgbClr val="36454F"/>
                </a:solidFill>
                <a:latin typeface="Calibri" pitchFamily="34" charset="0"/>
                <a:ea typeface="Calibri" pitchFamily="34" charset="-122"/>
                <a:cs typeface="Calibri" pitchFamily="34" charset="-120"/>
              </a:rPr>
              <a:t>SHAP (Shapley Additive Explanations)</a:t>
            </a:r>
            <a:endParaRPr lang="en-US" sz="1100" dirty="0"/>
          </a:p>
        </p:txBody>
      </p:sp>
      <p:sp>
        <p:nvSpPr>
          <p:cNvPr id="20" name="Shape 18"/>
          <p:cNvSpPr/>
          <p:nvPr/>
        </p:nvSpPr>
        <p:spPr>
          <a:xfrm>
            <a:off x="320040" y="3419856"/>
            <a:ext cx="1371600" cy="530352"/>
          </a:xfrm>
          <a:prstGeom prst="rect">
            <a:avLst/>
          </a:prstGeom>
          <a:solidFill>
            <a:srgbClr val="4E6F88"/>
          </a:solidFill>
          <a:ln w="12700">
            <a:solidFill>
              <a:srgbClr val="4E6F88"/>
            </a:solidFill>
            <a:prstDash val="solid"/>
          </a:ln>
        </p:spPr>
      </p:sp>
      <p:sp>
        <p:nvSpPr>
          <p:cNvPr id="21" name="Text 19"/>
          <p:cNvSpPr/>
          <p:nvPr/>
        </p:nvSpPr>
        <p:spPr>
          <a:xfrm>
            <a:off x="320040" y="3419856"/>
            <a:ext cx="1371600" cy="53035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Frontend</a:t>
            </a:r>
            <a:endParaRPr lang="en-US" sz="1000" dirty="0"/>
          </a:p>
        </p:txBody>
      </p:sp>
      <p:sp>
        <p:nvSpPr>
          <p:cNvPr id="22" name="Shape 20"/>
          <p:cNvSpPr/>
          <p:nvPr/>
        </p:nvSpPr>
        <p:spPr>
          <a:xfrm>
            <a:off x="1691640" y="3465576"/>
            <a:ext cx="7132320" cy="438912"/>
          </a:xfrm>
          <a:prstGeom prst="rect">
            <a:avLst/>
          </a:prstGeom>
          <a:solidFill>
            <a:srgbClr val="F7F7F7"/>
          </a:solidFill>
          <a:ln w="12700">
            <a:solidFill>
              <a:srgbClr val="D8DEE4"/>
            </a:solidFill>
            <a:prstDash val="solid"/>
          </a:ln>
        </p:spPr>
      </p:sp>
      <p:sp>
        <p:nvSpPr>
          <p:cNvPr id="23" name="Text 21"/>
          <p:cNvSpPr/>
          <p:nvPr/>
        </p:nvSpPr>
        <p:spPr>
          <a:xfrm>
            <a:off x="1828800" y="3465576"/>
            <a:ext cx="6949440" cy="438912"/>
          </a:xfrm>
          <a:prstGeom prst="rect">
            <a:avLst/>
          </a:prstGeom>
          <a:noFill/>
          <a:ln/>
        </p:spPr>
        <p:txBody>
          <a:bodyPr wrap="square" lIns="0" tIns="0" rIns="0" bIns="0" rtlCol="0" anchor="ctr"/>
          <a:lstStyle/>
          <a:p>
            <a:pPr marL="0" indent="0">
              <a:buNone/>
            </a:pPr>
            <a:r>
              <a:rPr lang="en-US" sz="1100" dirty="0">
                <a:solidFill>
                  <a:srgbClr val="36454F"/>
                </a:solidFill>
                <a:latin typeface="Calibri" pitchFamily="34" charset="0"/>
                <a:ea typeface="Calibri" pitchFamily="34" charset="-122"/>
                <a:cs typeface="Calibri" pitchFamily="34" charset="-120"/>
              </a:rPr>
              <a:t>Chart.js radar &amp; line charts · Progressive enhancement · CSR draft-save</a:t>
            </a:r>
            <a:endParaRPr lang="en-US" sz="1100" dirty="0"/>
          </a:p>
        </p:txBody>
      </p:sp>
      <p:sp>
        <p:nvSpPr>
          <p:cNvPr id="24" name="Shape 22"/>
          <p:cNvSpPr/>
          <p:nvPr/>
        </p:nvSpPr>
        <p:spPr>
          <a:xfrm>
            <a:off x="320040" y="4087368"/>
            <a:ext cx="1371600" cy="530352"/>
          </a:xfrm>
          <a:prstGeom prst="rect">
            <a:avLst/>
          </a:prstGeom>
          <a:solidFill>
            <a:srgbClr val="577E99"/>
          </a:solidFill>
          <a:ln w="12700">
            <a:solidFill>
              <a:srgbClr val="577E99"/>
            </a:solidFill>
            <a:prstDash val="solid"/>
          </a:ln>
        </p:spPr>
      </p:sp>
      <p:sp>
        <p:nvSpPr>
          <p:cNvPr id="25" name="Text 23"/>
          <p:cNvSpPr/>
          <p:nvPr/>
        </p:nvSpPr>
        <p:spPr>
          <a:xfrm>
            <a:off x="320040" y="4087368"/>
            <a:ext cx="1371600" cy="53035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Deployment</a:t>
            </a:r>
            <a:endParaRPr lang="en-US" sz="1000" dirty="0"/>
          </a:p>
        </p:txBody>
      </p:sp>
      <p:sp>
        <p:nvSpPr>
          <p:cNvPr id="26" name="Shape 24"/>
          <p:cNvSpPr/>
          <p:nvPr/>
        </p:nvSpPr>
        <p:spPr>
          <a:xfrm>
            <a:off x="1691640" y="4133088"/>
            <a:ext cx="7132320" cy="438912"/>
          </a:xfrm>
          <a:prstGeom prst="rect">
            <a:avLst/>
          </a:prstGeom>
          <a:solidFill>
            <a:srgbClr val="F7F7F7"/>
          </a:solidFill>
          <a:ln w="12700">
            <a:solidFill>
              <a:srgbClr val="D8DEE4"/>
            </a:solidFill>
            <a:prstDash val="solid"/>
          </a:ln>
        </p:spPr>
      </p:sp>
      <p:sp>
        <p:nvSpPr>
          <p:cNvPr id="27" name="Text 25"/>
          <p:cNvSpPr/>
          <p:nvPr/>
        </p:nvSpPr>
        <p:spPr>
          <a:xfrm>
            <a:off x="1828800" y="4133088"/>
            <a:ext cx="6949440" cy="438912"/>
          </a:xfrm>
          <a:prstGeom prst="rect">
            <a:avLst/>
          </a:prstGeom>
          <a:noFill/>
          <a:ln/>
        </p:spPr>
        <p:txBody>
          <a:bodyPr wrap="square" lIns="0" tIns="0" rIns="0" bIns="0" rtlCol="0" anchor="ctr"/>
          <a:lstStyle/>
          <a:p>
            <a:pPr marL="0" indent="0">
              <a:buNone/>
            </a:pPr>
            <a:r>
              <a:rPr lang="en-US" sz="1100" dirty="0">
                <a:solidFill>
                  <a:srgbClr val="36454F"/>
                </a:solidFill>
                <a:latin typeface="Calibri" pitchFamily="34" charset="0"/>
                <a:ea typeface="Calibri" pitchFamily="34" charset="-122"/>
                <a:cs typeface="Calibri" pitchFamily="34" charset="-120"/>
              </a:rPr>
              <a:t>Azure App Services · Geographic redundancy · WhiteNoise static</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A1A2E"/>
          </a:solidFill>
          <a:ln w="12700">
            <a:solidFill>
              <a:srgbClr val="1A1A2E"/>
            </a:solidFill>
            <a:prstDash val="solid"/>
          </a:ln>
        </p:spPr>
      </p:sp>
      <p:sp>
        <p:nvSpPr>
          <p:cNvPr id="3" name="Text 1"/>
          <p:cNvSpPr/>
          <p:nvPr/>
        </p:nvSpPr>
        <p:spPr>
          <a:xfrm>
            <a:off x="457200" y="0"/>
            <a:ext cx="8229600" cy="640080"/>
          </a:xfrm>
          <a:prstGeom prst="rect">
            <a:avLst/>
          </a:prstGeom>
          <a:noFill/>
          <a:ln/>
        </p:spPr>
        <p:txBody>
          <a:bodyPr wrap="square" lIns="0" tIns="0" rIns="0" bIns="0" rtlCol="0" anchor="ctr"/>
          <a:lstStyle/>
          <a:p>
            <a:pPr marL="0" indent="0">
              <a:buNone/>
            </a:pPr>
            <a:r>
              <a:rPr lang="en-US" sz="2000" b="1" dirty="0">
                <a:solidFill>
                  <a:srgbClr val="FFFFFF"/>
                </a:solidFill>
                <a:latin typeface="Georgia" pitchFamily="34" charset="0"/>
                <a:ea typeface="Georgia" pitchFamily="34" charset="-122"/>
                <a:cs typeface="Georgia" pitchFamily="34" charset="-120"/>
              </a:rPr>
              <a:t>Limitations &amp; Future Directions</a:t>
            </a:r>
            <a:endParaRPr lang="en-US" sz="2000" dirty="0"/>
          </a:p>
        </p:txBody>
      </p:sp>
      <p:sp>
        <p:nvSpPr>
          <p:cNvPr id="4" name="Text 2"/>
          <p:cNvSpPr/>
          <p:nvPr/>
        </p:nvSpPr>
        <p:spPr>
          <a:xfrm>
            <a:off x="320040" y="777240"/>
            <a:ext cx="4023360" cy="347472"/>
          </a:xfrm>
          <a:prstGeom prst="rect">
            <a:avLst/>
          </a:prstGeom>
          <a:noFill/>
          <a:ln/>
        </p:spPr>
        <p:txBody>
          <a:bodyPr wrap="square" lIns="0" tIns="0" rIns="0" bIns="0" rtlCol="0" anchor="ctr"/>
          <a:lstStyle/>
          <a:p>
            <a:pPr marL="0" indent="0">
              <a:buNone/>
            </a:pPr>
            <a:r>
              <a:rPr lang="en-US" sz="1300" b="1" dirty="0">
                <a:solidFill>
                  <a:srgbClr val="1A1A2E"/>
                </a:solidFill>
                <a:latin typeface="Georgia" pitchFamily="34" charset="0"/>
                <a:ea typeface="Georgia" pitchFamily="34" charset="-122"/>
                <a:cs typeface="Georgia" pitchFamily="34" charset="-120"/>
              </a:rPr>
              <a:t>Known Limitations</a:t>
            </a:r>
            <a:endParaRPr lang="en-US" sz="1300" dirty="0"/>
          </a:p>
        </p:txBody>
      </p:sp>
      <p:sp>
        <p:nvSpPr>
          <p:cNvPr id="5" name="Text 3"/>
          <p:cNvSpPr/>
          <p:nvPr/>
        </p:nvSpPr>
        <p:spPr>
          <a:xfrm>
            <a:off x="320040" y="1170432"/>
            <a:ext cx="4023360" cy="3291840"/>
          </a:xfrm>
          <a:prstGeom prst="rect">
            <a:avLst/>
          </a:prstGeom>
          <a:noFill/>
          <a:ln/>
        </p:spPr>
        <p:txBody>
          <a:bodyPr wrap="square" lIns="0" tIns="0" rIns="0" bIns="0" rtlCol="0" anchor="ctr"/>
          <a:lstStyle/>
          <a:p>
            <a:pPr marL="342900" indent="-342900">
              <a:spcAft>
                <a:spcPts val="400"/>
              </a:spcAft>
              <a:buSzPct val="100000"/>
              <a:buChar char="•"/>
            </a:pPr>
            <a:r>
              <a:rPr lang="en-US" sz="1100" dirty="0">
                <a:solidFill>
                  <a:srgbClr val="36454F"/>
                </a:solidFill>
                <a:latin typeface="Calibri" pitchFamily="34" charset="0"/>
                <a:ea typeface="Calibri" pitchFamily="34" charset="-122"/>
                <a:cs typeface="Calibri" pitchFamily="34" charset="-120"/>
              </a:rPr>
              <a:t>585-essay corpus is small for a 110M-param model; skew toward bands 6–8</a:t>
            </a:r>
            <a:endParaRPr lang="en-US" sz="1100" dirty="0"/>
          </a:p>
          <a:p>
            <a:pPr marL="342900" indent="-342900">
              <a:spcAft>
                <a:spcPts val="400"/>
              </a:spcAft>
              <a:buSzPct val="100000"/>
              <a:buChar char="•"/>
            </a:pPr>
            <a:r>
              <a:rPr lang="en-US" sz="1100" dirty="0" err="1">
                <a:solidFill>
                  <a:srgbClr val="36454F"/>
                </a:solidFill>
                <a:latin typeface="Calibri" pitchFamily="34" charset="0"/>
                <a:ea typeface="Calibri" pitchFamily="34" charset="-122"/>
                <a:cs typeface="Calibri" pitchFamily="34" charset="-120"/>
              </a:rPr>
              <a:t>HuggingFace</a:t>
            </a:r>
            <a:r>
              <a:rPr lang="en-US" sz="1100" dirty="0">
                <a:solidFill>
                  <a:srgbClr val="36454F"/>
                </a:solidFill>
                <a:latin typeface="Calibri" pitchFamily="34" charset="0"/>
                <a:ea typeface="Calibri" pitchFamily="34" charset="-122"/>
                <a:cs typeface="Calibri" pitchFamily="34" charset="-120"/>
              </a:rPr>
              <a:t> API key currently hardcoded — must be env var before public deploy</a:t>
            </a:r>
            <a:endParaRPr lang="en-US" sz="1100" dirty="0"/>
          </a:p>
          <a:p>
            <a:pPr marL="342900" indent="-342900">
              <a:spcAft>
                <a:spcPts val="400"/>
              </a:spcAft>
              <a:buSzPct val="100000"/>
              <a:buChar char="•"/>
            </a:pPr>
            <a:r>
              <a:rPr lang="en-US" sz="1100" dirty="0">
                <a:solidFill>
                  <a:srgbClr val="36454F"/>
                </a:solidFill>
                <a:latin typeface="Calibri" pitchFamily="34" charset="0"/>
                <a:ea typeface="Calibri" pitchFamily="34" charset="-122"/>
                <a:cs typeface="Calibri" pitchFamily="34" charset="-120"/>
              </a:rPr>
              <a:t>Django auth not enforced in current dev build</a:t>
            </a:r>
            <a:endParaRPr lang="en-US" sz="1100" dirty="0"/>
          </a:p>
          <a:p>
            <a:pPr marL="342900" indent="-342900">
              <a:spcAft>
                <a:spcPts val="400"/>
              </a:spcAft>
              <a:buSzPct val="100000"/>
              <a:buChar char="•"/>
            </a:pPr>
            <a:r>
              <a:rPr lang="en-US" sz="1100" dirty="0">
                <a:solidFill>
                  <a:srgbClr val="36454F"/>
                </a:solidFill>
                <a:latin typeface="Calibri" pitchFamily="34" charset="0"/>
                <a:ea typeface="Calibri" pitchFamily="34" charset="-122"/>
                <a:cs typeface="Calibri" pitchFamily="34" charset="-120"/>
              </a:rPr>
              <a:t>Myanmar first-language transfer patterns may be underrepresented</a:t>
            </a:r>
            <a:endParaRPr lang="en-US" sz="1100" dirty="0"/>
          </a:p>
          <a:p>
            <a:pPr marL="0" indent="0">
              <a:buNone/>
            </a:pPr>
            <a:endParaRPr lang="en-US" sz="1100" dirty="0"/>
          </a:p>
        </p:txBody>
      </p:sp>
      <p:sp>
        <p:nvSpPr>
          <p:cNvPr id="6" name="Text 4"/>
          <p:cNvSpPr/>
          <p:nvPr/>
        </p:nvSpPr>
        <p:spPr>
          <a:xfrm>
            <a:off x="4754880" y="777240"/>
            <a:ext cx="4023360" cy="347472"/>
          </a:xfrm>
          <a:prstGeom prst="rect">
            <a:avLst/>
          </a:prstGeom>
          <a:noFill/>
          <a:ln/>
        </p:spPr>
        <p:txBody>
          <a:bodyPr wrap="square" lIns="0" tIns="0" rIns="0" bIns="0" rtlCol="0" anchor="ctr"/>
          <a:lstStyle/>
          <a:p>
            <a:pPr marL="0" indent="0">
              <a:buNone/>
            </a:pPr>
            <a:r>
              <a:rPr lang="en-US" sz="1300" b="1" dirty="0">
                <a:solidFill>
                  <a:srgbClr val="1A1A2E"/>
                </a:solidFill>
                <a:latin typeface="Georgia" pitchFamily="34" charset="0"/>
                <a:ea typeface="Georgia" pitchFamily="34" charset="-122"/>
                <a:cs typeface="Georgia" pitchFamily="34" charset="-120"/>
              </a:rPr>
              <a:t>Planned Improvements</a:t>
            </a:r>
            <a:endParaRPr lang="en-US" sz="1300" dirty="0"/>
          </a:p>
        </p:txBody>
      </p:sp>
      <p:sp>
        <p:nvSpPr>
          <p:cNvPr id="7" name="Text 5"/>
          <p:cNvSpPr/>
          <p:nvPr/>
        </p:nvSpPr>
        <p:spPr>
          <a:xfrm>
            <a:off x="4754880" y="1170432"/>
            <a:ext cx="4023360" cy="3291840"/>
          </a:xfrm>
          <a:prstGeom prst="rect">
            <a:avLst/>
          </a:prstGeom>
          <a:noFill/>
          <a:ln/>
        </p:spPr>
        <p:txBody>
          <a:bodyPr wrap="square" lIns="0" tIns="0" rIns="0" bIns="0" rtlCol="0" anchor="ctr"/>
          <a:lstStyle/>
          <a:p>
            <a:pPr marL="342900" indent="-342900">
              <a:spcAft>
                <a:spcPts val="400"/>
              </a:spcAft>
              <a:buSzPct val="100000"/>
              <a:buChar char="•"/>
            </a:pPr>
            <a:r>
              <a:rPr lang="en-US" sz="1100" dirty="0">
                <a:solidFill>
                  <a:srgbClr val="36454F"/>
                </a:solidFill>
                <a:latin typeface="Calibri" pitchFamily="34" charset="0"/>
                <a:ea typeface="Calibri" pitchFamily="34" charset="-122"/>
                <a:cs typeface="Calibri" pitchFamily="34" charset="-120"/>
              </a:rPr>
              <a:t>Cambridge IELTS or ASAP-AES corpus expansion</a:t>
            </a:r>
          </a:p>
          <a:p>
            <a:pPr marL="342900" indent="-342900">
              <a:spcAft>
                <a:spcPts val="400"/>
              </a:spcAft>
              <a:buSzPct val="100000"/>
              <a:buChar char="•"/>
            </a:pPr>
            <a:r>
              <a:rPr lang="en-US" sz="1100" dirty="0">
                <a:solidFill>
                  <a:srgbClr val="36454F"/>
                </a:solidFill>
                <a:latin typeface="Calibri" pitchFamily="34" charset="0"/>
                <a:ea typeface="Calibri" pitchFamily="34" charset="-122"/>
                <a:cs typeface="Calibri" pitchFamily="34" charset="-120"/>
              </a:rPr>
              <a:t>In-depth Analysis of the Dataset</a:t>
            </a:r>
          </a:p>
          <a:p>
            <a:pPr marL="342900" indent="-342900">
              <a:spcAft>
                <a:spcPts val="400"/>
              </a:spcAft>
              <a:buSzPct val="100000"/>
              <a:buChar char="•"/>
            </a:pPr>
            <a:r>
              <a:rPr lang="en-US" sz="1100" dirty="0">
                <a:solidFill>
                  <a:srgbClr val="36454F"/>
                </a:solidFill>
                <a:latin typeface="Calibri" pitchFamily="34" charset="0"/>
                <a:ea typeface="Calibri" pitchFamily="34" charset="-122"/>
                <a:cs typeface="Calibri" pitchFamily="34" charset="-120"/>
              </a:rPr>
              <a:t>Experimenting different ML algorithms for optimal results and performance</a:t>
            </a:r>
          </a:p>
          <a:p>
            <a:pPr marL="342900" indent="-342900">
              <a:spcAft>
                <a:spcPts val="400"/>
              </a:spcAft>
              <a:buSzPct val="100000"/>
              <a:buChar char="•"/>
            </a:pPr>
            <a:r>
              <a:rPr lang="en-US" sz="1100" dirty="0">
                <a:solidFill>
                  <a:srgbClr val="36454F"/>
                </a:solidFill>
                <a:latin typeface="Calibri" pitchFamily="34" charset="0"/>
                <a:ea typeface="Calibri" pitchFamily="34" charset="-122"/>
                <a:cs typeface="Calibri" pitchFamily="34" charset="-120"/>
              </a:rPr>
              <a:t>Deploy on either </a:t>
            </a:r>
            <a:r>
              <a:rPr lang="en-US" sz="1100" dirty="0" err="1">
                <a:solidFill>
                  <a:srgbClr val="36454F"/>
                </a:solidFill>
                <a:latin typeface="Calibri" pitchFamily="34" charset="0"/>
                <a:ea typeface="Calibri" pitchFamily="34" charset="-122"/>
                <a:cs typeface="Calibri" pitchFamily="34" charset="-120"/>
              </a:rPr>
              <a:t>HuggingFace</a:t>
            </a:r>
            <a:r>
              <a:rPr lang="en-US" sz="1100" dirty="0">
                <a:solidFill>
                  <a:srgbClr val="36454F"/>
                </a:solidFill>
                <a:latin typeface="Calibri" pitchFamily="34" charset="0"/>
                <a:ea typeface="Calibri" pitchFamily="34" charset="-122"/>
                <a:cs typeface="Calibri" pitchFamily="34" charset="-120"/>
              </a:rPr>
              <a:t> or Azure </a:t>
            </a:r>
          </a:p>
          <a:p>
            <a:pPr marL="342900" indent="-342900">
              <a:spcAft>
                <a:spcPts val="400"/>
              </a:spcAft>
              <a:buSzPct val="100000"/>
              <a:buChar char="•"/>
            </a:pPr>
            <a:r>
              <a:rPr lang="en-US" sz="1100" dirty="0">
                <a:solidFill>
                  <a:srgbClr val="36454F"/>
                </a:solidFill>
                <a:latin typeface="Calibri" pitchFamily="34" charset="0"/>
                <a:ea typeface="Calibri" pitchFamily="34" charset="-122"/>
                <a:cs typeface="Calibri" pitchFamily="34" charset="-120"/>
              </a:rPr>
              <a:t>Longitudinal study: teacher adoption &amp; student exam outcomes after production deployment</a:t>
            </a:r>
            <a:endParaRPr lang="en-US" sz="1100" dirty="0"/>
          </a:p>
          <a:p>
            <a:pPr marL="0" indent="0">
              <a:buNone/>
            </a:pPr>
            <a:endParaRPr lang="en-US" sz="1100" dirty="0"/>
          </a:p>
        </p:txBody>
      </p:sp>
      <p:sp>
        <p:nvSpPr>
          <p:cNvPr id="8" name="Shape 6"/>
          <p:cNvSpPr/>
          <p:nvPr/>
        </p:nvSpPr>
        <p:spPr>
          <a:xfrm>
            <a:off x="4526280" y="777240"/>
            <a:ext cx="18288" cy="3931920"/>
          </a:xfrm>
          <a:prstGeom prst="rect">
            <a:avLst/>
          </a:prstGeom>
          <a:solidFill>
            <a:srgbClr val="D8DEE4"/>
          </a:solidFill>
          <a:ln w="12700">
            <a:solidFill>
              <a:srgbClr val="D8DEE4"/>
            </a:solidFill>
            <a:prstDash val="solid"/>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1A1A2E"/>
        </a:solidFill>
        <a:effectLst/>
      </p:bgPr>
    </p:bg>
    <p:spTree>
      <p:nvGrpSpPr>
        <p:cNvPr id="1" name=""/>
        <p:cNvGrpSpPr/>
        <p:nvPr/>
      </p:nvGrpSpPr>
      <p:grpSpPr>
        <a:xfrm>
          <a:off x="0" y="0"/>
          <a:ext cx="0" cy="0"/>
          <a:chOff x="0" y="0"/>
          <a:chExt cx="0" cy="0"/>
        </a:xfrm>
      </p:grpSpPr>
      <p:sp>
        <p:nvSpPr>
          <p:cNvPr id="2" name="Shape 0"/>
          <p:cNvSpPr/>
          <p:nvPr/>
        </p:nvSpPr>
        <p:spPr>
          <a:xfrm>
            <a:off x="502920" y="914400"/>
            <a:ext cx="54864" cy="3017520"/>
          </a:xfrm>
          <a:prstGeom prst="rect">
            <a:avLst/>
          </a:prstGeom>
          <a:solidFill>
            <a:srgbClr val="4A90D9"/>
          </a:solidFill>
          <a:ln w="12700">
            <a:solidFill>
              <a:srgbClr val="4A90D9"/>
            </a:solidFill>
            <a:prstDash val="solid"/>
          </a:ln>
        </p:spPr>
      </p:sp>
      <p:sp>
        <p:nvSpPr>
          <p:cNvPr id="3" name="Text 1"/>
          <p:cNvSpPr/>
          <p:nvPr/>
        </p:nvSpPr>
        <p:spPr>
          <a:xfrm>
            <a:off x="685800" y="868680"/>
            <a:ext cx="7772400" cy="548640"/>
          </a:xfrm>
          <a:prstGeom prst="rect">
            <a:avLst/>
          </a:prstGeom>
          <a:noFill/>
          <a:ln/>
        </p:spPr>
        <p:txBody>
          <a:bodyPr wrap="square" lIns="0" tIns="0" rIns="0" bIns="0" rtlCol="0" anchor="ctr"/>
          <a:lstStyle/>
          <a:p>
            <a:pPr marL="0" indent="0">
              <a:buNone/>
            </a:pPr>
            <a:r>
              <a:rPr lang="en-US" sz="3200" b="1" dirty="0">
                <a:solidFill>
                  <a:srgbClr val="FFFFFF"/>
                </a:solidFill>
                <a:latin typeface="Georgia" pitchFamily="34" charset="0"/>
                <a:ea typeface="Georgia" pitchFamily="34" charset="-122"/>
                <a:cs typeface="Georgia" pitchFamily="34" charset="-120"/>
              </a:rPr>
              <a:t>Conclusion</a:t>
            </a:r>
            <a:endParaRPr lang="en-US" sz="3200" dirty="0"/>
          </a:p>
        </p:txBody>
      </p:sp>
      <p:sp>
        <p:nvSpPr>
          <p:cNvPr id="4" name="Text 2"/>
          <p:cNvSpPr/>
          <p:nvPr/>
        </p:nvSpPr>
        <p:spPr>
          <a:xfrm>
            <a:off x="685800" y="1463040"/>
            <a:ext cx="8046720" cy="3200400"/>
          </a:xfrm>
          <a:prstGeom prst="rect">
            <a:avLst/>
          </a:prstGeom>
          <a:noFill/>
          <a:ln/>
        </p:spPr>
        <p:txBody>
          <a:bodyPr wrap="square" lIns="0" tIns="0" rIns="0" bIns="0" rtlCol="0" anchor="ctr"/>
          <a:lstStyle/>
          <a:p>
            <a:pPr marL="0" indent="0">
              <a:lnSpc>
                <a:spcPct val="150000"/>
              </a:lnSpc>
              <a:buNone/>
            </a:pPr>
            <a:r>
              <a:rPr lang="en-US" sz="1200" b="1" dirty="0">
                <a:solidFill>
                  <a:srgbClr val="4A90D9"/>
                </a:solidFill>
                <a:latin typeface="Calibri" pitchFamily="34" charset="0"/>
                <a:ea typeface="Calibri" pitchFamily="34" charset="-122"/>
                <a:cs typeface="Calibri" pitchFamily="34" charset="-120"/>
              </a:rPr>
              <a:t>1  </a:t>
            </a:r>
            <a:r>
              <a:rPr lang="en-US" sz="1200" dirty="0">
                <a:solidFill>
                  <a:srgbClr val="D0D8E4"/>
                </a:solidFill>
                <a:latin typeface="Calibri" pitchFamily="34" charset="0"/>
                <a:ea typeface="Calibri" pitchFamily="34" charset="-122"/>
                <a:cs typeface="Calibri" pitchFamily="34" charset="-120"/>
              </a:rPr>
              <a:t>R² 0.830–0.908 across all four IELTS criteria; 83–90.7% of predictions within ±0.5 band
</a:t>
            </a:r>
            <a:r>
              <a:rPr lang="en-US" sz="1200" b="1" dirty="0">
                <a:solidFill>
                  <a:srgbClr val="4A90D9"/>
                </a:solidFill>
                <a:latin typeface="Calibri" pitchFamily="34" charset="0"/>
                <a:ea typeface="Calibri" pitchFamily="34" charset="-122"/>
                <a:cs typeface="Calibri" pitchFamily="34" charset="-120"/>
              </a:rPr>
              <a:t>2  </a:t>
            </a:r>
            <a:r>
              <a:rPr lang="en-US" sz="1200" dirty="0">
                <a:solidFill>
                  <a:srgbClr val="D0D8E4"/>
                </a:solidFill>
                <a:latin typeface="Calibri" pitchFamily="34" charset="0"/>
                <a:ea typeface="Calibri" pitchFamily="34" charset="-122"/>
                <a:cs typeface="Calibri" pitchFamily="34" charset="-120"/>
              </a:rPr>
              <a:t>Human-in-the-loop design: AI scores are advisory — teacher-validated scores enter the official record
</a:t>
            </a:r>
            <a:r>
              <a:rPr lang="en-US" sz="1200" b="1" dirty="0">
                <a:solidFill>
                  <a:srgbClr val="4A90D9"/>
                </a:solidFill>
                <a:latin typeface="Calibri" pitchFamily="34" charset="0"/>
                <a:ea typeface="Calibri" pitchFamily="34" charset="-122"/>
                <a:cs typeface="Calibri" pitchFamily="34" charset="-120"/>
              </a:rPr>
              <a:t>3  </a:t>
            </a:r>
            <a:r>
              <a:rPr lang="en-US" sz="1200" dirty="0">
                <a:solidFill>
                  <a:srgbClr val="D0D8E4"/>
                </a:solidFill>
                <a:latin typeface="Calibri" pitchFamily="34" charset="0"/>
                <a:ea typeface="Calibri" pitchFamily="34" charset="-122"/>
                <a:cs typeface="Calibri" pitchFamily="34" charset="-120"/>
              </a:rPr>
              <a:t>SHAP explanations make the model's reasoning transparent and interrogable
</a:t>
            </a:r>
            <a:r>
              <a:rPr lang="en-US" sz="1200" b="1" dirty="0">
                <a:solidFill>
                  <a:srgbClr val="4A90D9"/>
                </a:solidFill>
                <a:latin typeface="Calibri" pitchFamily="34" charset="0"/>
                <a:ea typeface="Calibri" pitchFamily="34" charset="-122"/>
                <a:cs typeface="Calibri" pitchFamily="34" charset="-120"/>
              </a:rPr>
              <a:t>4  </a:t>
            </a:r>
            <a:r>
              <a:rPr lang="en-US" sz="1200" dirty="0">
                <a:solidFill>
                  <a:srgbClr val="D0D8E4"/>
                </a:solidFill>
                <a:latin typeface="Calibri" pitchFamily="34" charset="0"/>
                <a:ea typeface="Calibri" pitchFamily="34" charset="-122"/>
                <a:cs typeface="Calibri" pitchFamily="34" charset="-120"/>
              </a:rPr>
              <a:t>Contextual design: cloud redundancy, progressive enhancement, and dual essay input address Myanmar's infrastructure realities
</a:t>
            </a:r>
            <a:r>
              <a:rPr lang="en-US" sz="1200" b="1" dirty="0">
                <a:solidFill>
                  <a:srgbClr val="4A90D9"/>
                </a:solidFill>
                <a:latin typeface="Calibri" pitchFamily="34" charset="0"/>
                <a:ea typeface="Calibri" pitchFamily="34" charset="-122"/>
                <a:cs typeface="Calibri" pitchFamily="34" charset="-120"/>
              </a:rPr>
              <a:t>5  </a:t>
            </a:r>
            <a:r>
              <a:rPr lang="en-US" sz="1200" dirty="0">
                <a:solidFill>
                  <a:srgbClr val="D0D8E4"/>
                </a:solidFill>
                <a:latin typeface="Calibri" pitchFamily="34" charset="0"/>
                <a:ea typeface="Calibri" pitchFamily="34" charset="-122"/>
                <a:cs typeface="Calibri" pitchFamily="34" charset="-120"/>
              </a:rPr>
              <a:t>Augmentation, not automation — teachers gain time for judgment-based work that machines cannot yet replicate</a:t>
            </a:r>
            <a:endParaRPr lang="en-US" sz="1200" dirty="0"/>
          </a:p>
        </p:txBody>
      </p:sp>
      <p:sp>
        <p:nvSpPr>
          <p:cNvPr id="5" name="Text 3"/>
          <p:cNvSpPr/>
          <p:nvPr/>
        </p:nvSpPr>
        <p:spPr>
          <a:xfrm>
            <a:off x="685800" y="4709160"/>
            <a:ext cx="7772400" cy="274320"/>
          </a:xfrm>
          <a:prstGeom prst="rect">
            <a:avLst/>
          </a:prstGeom>
          <a:noFill/>
          <a:ln/>
        </p:spPr>
        <p:txBody>
          <a:bodyPr wrap="square" lIns="0" tIns="0" rIns="0" bIns="0" rtlCol="0" anchor="ctr"/>
          <a:lstStyle/>
          <a:p>
            <a:pPr marL="0" indent="0">
              <a:buNone/>
            </a:pP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1016</TotalTime>
  <Words>1900</Words>
  <Application>Microsoft Office PowerPoint</Application>
  <PresentationFormat>On-screen Show (16:9)</PresentationFormat>
  <Paragraphs>158</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SayarDesk IELTS Intelligence</dc:title>
  <dc:subject>PptxGenJS Presentation</dc:subject>
  <dc:creator>PptxGenJS</dc:creator>
  <cp:lastModifiedBy>Thant Thaw Tun</cp:lastModifiedBy>
  <cp:revision>8</cp:revision>
  <dcterms:created xsi:type="dcterms:W3CDTF">2026-03-18T10:10:41Z</dcterms:created>
  <dcterms:modified xsi:type="dcterms:W3CDTF">2026-03-31T07:53:00Z</dcterms:modified>
</cp:coreProperties>
</file>